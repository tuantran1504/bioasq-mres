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8974e10a814eb0" /><Relationship Type="http://schemas.openxmlformats.org/officeDocument/2006/relationships/extended-properties" Target="/docProps/app.xml" Id="R987b9cdc50e64a64" /><Relationship Type="http://schemas.openxmlformats.org/officeDocument/2006/relationships/officeDocument" Target="/ppt/presentation.xml" Id="Rbc5ee23e0bfc49c9" /></Relationships>
</file>

<file path=ppt/presentation.xml><?xml version="1.0" encoding="utf-8"?>
<p:presentation xmlns:p="http://schemas.openxmlformats.org/presentationml/2006/main">
  <p:sldMasterIdLst>
    <p:sldMasterId xmlns:r="http://schemas.openxmlformats.org/officeDocument/2006/relationships" id="2147483648" r:id="Re93941d5fe24431e"/>
  </p:sldMasterIdLst>
  <p:notesMasterIdLst>
    <p:notesMasterId xmlns:r="http://schemas.openxmlformats.org/officeDocument/2006/relationships" r:id="R88c8b8d82e0149da"/>
  </p:notesMasterIdLst>
  <p:sldIdLst>
    <p:sldId xmlns:r="http://schemas.openxmlformats.org/officeDocument/2006/relationships" id="256" r:id="R00839119fa4642d1"/>
    <p:sldId xmlns:r="http://schemas.openxmlformats.org/officeDocument/2006/relationships" id="257" r:id="Ra58cae615ded4f1c"/>
    <p:sldId xmlns:r="http://schemas.openxmlformats.org/officeDocument/2006/relationships" id="258" r:id="Rda59cb493db74663"/>
    <p:sldId xmlns:r="http://schemas.openxmlformats.org/officeDocument/2006/relationships" id="259" r:id="R717e8fdb95004247"/>
    <p:sldId xmlns:r="http://schemas.openxmlformats.org/officeDocument/2006/relationships" id="260" r:id="Rbb0a0d47763f4f5c"/>
    <p:sldId xmlns:r="http://schemas.openxmlformats.org/officeDocument/2006/relationships" id="261" r:id="R9ebb80acf56849b3"/>
    <p:sldId xmlns:r="http://schemas.openxmlformats.org/officeDocument/2006/relationships" id="262" r:id="R68e19978c4e64e19"/>
    <p:sldId xmlns:r="http://schemas.openxmlformats.org/officeDocument/2006/relationships" id="263" r:id="Rf754f33ab47b450a"/>
    <p:sldId xmlns:r="http://schemas.openxmlformats.org/officeDocument/2006/relationships" id="264" r:id="R1538371fa71a42f4"/>
    <p:sldId xmlns:r="http://schemas.openxmlformats.org/officeDocument/2006/relationships" id="265" r:id="R05c167c5559c4f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71390c9b964c08" /><Relationship Type="http://schemas.openxmlformats.org/officeDocument/2006/relationships/slideMaster" Target="/ppt/slideMasters/slideMaster1.xml" Id="Re93941d5fe24431e" /><Relationship Type="http://schemas.openxmlformats.org/officeDocument/2006/relationships/notesMaster" Target="/ppt/notesMasters/notesMaster1.xml" Id="R88c8b8d82e0149da" /><Relationship Type="http://schemas.openxmlformats.org/officeDocument/2006/relationships/presProps" Target="/ppt/presProps.xml" Id="R13173bbf785849c0" /><Relationship Type="http://schemas.openxmlformats.org/officeDocument/2006/relationships/tableStyles" Target="/ppt/tableStyles.xml" Id="R73933f22a4064e93" /><Relationship Type="http://schemas.openxmlformats.org/officeDocument/2006/relationships/slide" Target="/ppt/slides/slide1.xml" Id="R00839119fa4642d1" /><Relationship Type="http://schemas.openxmlformats.org/officeDocument/2006/relationships/slide" Target="/ppt/slides/slide2.xml" Id="Ra58cae615ded4f1c" /><Relationship Type="http://schemas.openxmlformats.org/officeDocument/2006/relationships/slide" Target="/ppt/slides/slide3.xml" Id="Rda59cb493db74663" /><Relationship Type="http://schemas.openxmlformats.org/officeDocument/2006/relationships/slide" Target="/ppt/slides/slide4.xml" Id="R717e8fdb95004247" /><Relationship Type="http://schemas.openxmlformats.org/officeDocument/2006/relationships/slide" Target="/ppt/slides/slide5.xml" Id="Rbb0a0d47763f4f5c" /><Relationship Type="http://schemas.openxmlformats.org/officeDocument/2006/relationships/slide" Target="/ppt/slides/slide6.xml" Id="R9ebb80acf56849b3" /><Relationship Type="http://schemas.openxmlformats.org/officeDocument/2006/relationships/slide" Target="/ppt/slides/slide7.xml" Id="R68e19978c4e64e19" /><Relationship Type="http://schemas.openxmlformats.org/officeDocument/2006/relationships/slide" Target="/ppt/slides/slide8.xml" Id="Rf754f33ab47b450a" /><Relationship Type="http://schemas.openxmlformats.org/officeDocument/2006/relationships/slide" Target="/ppt/slides/slide9.xml" Id="R1538371fa71a42f4" /><Relationship Type="http://schemas.openxmlformats.org/officeDocument/2006/relationships/slide" Target="/ppt/slides/slide10.xml" Id="R05c167c5559c4f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d05069c10044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6d64403a2a417e" /><Relationship Type="http://schemas.openxmlformats.org/officeDocument/2006/relationships/notesMaster" Target="/ppt/notesMasters/notesMaster1.xml" Id="Rd9abb08b968f41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cfcec68f264573" /><Relationship Type="http://schemas.openxmlformats.org/officeDocument/2006/relationships/notesMaster" Target="/ppt/notesMasters/notesMaster1.xml" Id="R35fdb67dbc3741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6f6fb726e143d5" /><Relationship Type="http://schemas.openxmlformats.org/officeDocument/2006/relationships/notesMaster" Target="/ppt/notesMasters/notesMaster1.xml" Id="R3f2e74b2525f47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a9a7d9aef246f8" /><Relationship Type="http://schemas.openxmlformats.org/officeDocument/2006/relationships/notesMaster" Target="/ppt/notesMasters/notesMaster1.xml" Id="R5ed80089402c4e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d6cac01a294230" /><Relationship Type="http://schemas.openxmlformats.org/officeDocument/2006/relationships/notesMaster" Target="/ppt/notesMasters/notesMaster1.xml" Id="Rd1a0902dcc6140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d8201f2dcf4fe0" /><Relationship Type="http://schemas.openxmlformats.org/officeDocument/2006/relationships/notesMaster" Target="/ppt/notesMasters/notesMaster1.xml" Id="R485f9b71be774b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c2a0f188104bf6" /><Relationship Type="http://schemas.openxmlformats.org/officeDocument/2006/relationships/notesMaster" Target="/ppt/notesMasters/notesMaster1.xml" Id="Rf8d150b76e0844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3461cf96c847e6" /><Relationship Type="http://schemas.openxmlformats.org/officeDocument/2006/relationships/notesMaster" Target="/ppt/notesMasters/notesMaster1.xml" Id="Ra8b5cdfd8cc64d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8754a8ced6410c" /><Relationship Type="http://schemas.openxmlformats.org/officeDocument/2006/relationships/notesMaster" Target="/ppt/notesMasters/notesMaster1.xml" Id="R884691f863c144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4a569f23d14e0a" /><Relationship Type="http://schemas.openxmlformats.org/officeDocument/2006/relationships/notesMaster" Target="/ppt/notesMasters/notesMaster1.xml" Id="R15b517da086643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 The central question is whether Direct Preference Optimisation improves BioASQ factoid exact answering beyond supervised fine-tuning, and whether its effect depends on the inference strategy. Introduce DPO as the training intervention and inference strategy as a separate experimental choice. The initial single-output study motivates comparing repeated sampling, evidence-grounded answer expansion and multi-model pooling.</a:t>
            </a:r>
          </a:p>
          <a:p xmlns:a="http://schemas.openxmlformats.org/drawingml/2006/main">
            <a:r>
              <a:t/>
            </a:r>
          </a:p>
          <a:p xmlns:a="http://schemas.openxmlformats.org/drawingml/2006/main">
            <a:r>
              <a:t>Cover artwork: generated using the built-in image generation tool. Decorative abstract illustration, not scientific evidence. Saved asset: Artifacts/presentation_builds/bioasq_methodology_20261006/cover-art.png. Prompt: restrained cream, navy and teal editorial illustration of alternative scientific paper expressions converging into one thread, with no legible text, anatomical claims, logos or UI.</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This is development question 53188480b166e2b806000018. The snippet explicitly identifies the full receptor name and its abbreviation EGFR. The left column shows the stored accepted answer, with a line break for display. The right column shows two equivalent expressions found in the saved GPT-4.1-mini expansion output. Its expansion_matching_answers field credits only the combined receptor name and acronym. Neither the full name alone nor EGFR alone receives exact-match credit for this question. The full-name-only response also appears in the 3B SFT evaluation, where the semantic judge labels it equivalent and supported while the official score is zero. This illustrates the distinction between concept correctness and accepted answer representation. It does not imply that every exact failure is a synonym error.</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a:p xmlns:a="http://schemas.openxmlformats.org/drawingml/2006/main">
            <a:r>
              <a:t>C:\Users\Dustin\Projects\BioASQ-MRES\Artifacts\notebook_runs\coverage_comparison\20260929-070458-a6267ca4\analysis-59ac5450\per_question.jsonl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SFT learns supervised target responses. DPO learns to increase the relative likelihood of preferred responses over rejected ones, using a frozen reference policy. The methodology reports that SFT improved the initial single-output system, while subsequent DPO added only marginal gains. Treat this as a pilot observation for that formulation and preference data. It does not settle whether DPO helps under other inference strategies. The remaining slides motivate alternative inference choices and a matched comparison of DPO against SFT within each choice. DPO method: Rafailov et al., https://arxiv.org/abs/2305.18290.</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75 seconds. The grouped chart uses saved official Java scores and the completed paired semantic-relation judge, rubric v2. Exact accuracy is 40.625% for 0.5B and 44.375% for 3B; semantic accuracy is 74.375% and 81.25%. Because each system returns one answer, exact accuracy equals MRR here. The model response for gefitinib omits the acronym in parentheses. The official matcher gives zero credit, while the judge labels it equivalent and supported. The gap motivates expansion but should not be treated as proof that every exact failure is a synonym error. Semantic judgments remain secondary and need an independent audit.</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C:\Users\Dustin\Projects\BioASQ-MRES\Artifacts\notebook_runs\evaluation\local_evaluation\20260929-133024-48a9b350\evaluation\20260927-143545-67f7a338\scores.json</a:t>
            </a:r>
          </a:p>
          <a:p xmlns:a="http://schemas.openxmlformats.org/drawingml/2006/main">
            <a:r>
              <a:t>C:\Users\Dustin\Projects\BioASQ-MRES\Artifacts\notebook_runs\evaluation\local_evaluation\20260929-133024-48a9b350\evaluation\20260927-143545-67f7a338\grounded_semantic\summary.json</a:t>
            </a:r>
          </a:p>
          <a:p xmlns:a="http://schemas.openxmlformats.org/drawingml/2006/main">
            <a:r>
              <a:t>C:\Users\Dustin\Projects\BioASQ-MRES\Artifacts\notebook_runs\evaluation\local_evaluation\20260929-133024-48a9b350\evaluation\20260927-143545-67f7a338\grounded_semantic\candidate_judgments.jsonl</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These counts are recomputed from official per-question scores, not semantic labels. Both models answer 51 questions correctly. Fourteen are correct only for 0.5B, twenty only for 3B, and seventy-five for neither. Totals are 65/160 and 71/160, matching the saved MRR values. For the displayed real question, the accepted answer and smaller-model output are galactocerebrosidase; the larger model outputs beta-galactosidase. This is a concept error rather than merely a surface-form error. Pooling can combine complementary successes, but selecting either model with oracle access would not be a deployable system. A ranker is still needed.</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C:\Users\Dustin\Projects\BioASQ-MRES\Artifacts\notebook_runs\evaluation\local_evaluation\20260929-133024-48a9b350\evaluation\20260927-143545-67f7a338\scores.json</a:t>
            </a:r>
          </a:p>
          <a:p xmlns:a="http://schemas.openxmlformats.org/drawingml/2006/main">
            <a:r>
              <a:t>C:\Users\Dustin\Projects\BioASQ-MRES\Artifacts\notebook_runs\evaluation\local_evaluation\20260929-133024-48a9b350\evaluation\20260927-143545-67f7a338\grounded_semantic\summary.json</a:t>
            </a:r>
          </a:p>
          <a:p xmlns:a="http://schemas.openxmlformats.org/drawingml/2006/main">
            <a:r>
              <a:t>C:\Users\Dustin\Projects\BioASQ-MRES\Artifacts\notebook_runs\evaluation\local_evaluation\20260929-133024-48a9b350\evaluation\20260927-143545-67f7a338\grounded_semantic\candidate_judgments.jsonl</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80 seconds. Distinguish training from inference. SFT and DPO change model parameters. The inference strategy controls how the trained model produces answers. Single output commits to one answer. Repeated sampling explores independent generations but can repeat frequent expressions. Answer expansion explicitly asks for supported alternatives, including equivalent expressions. Multi-model pooling combines generators with complementary outputs and can use expansion within each generator. Pooling is therefore an additional inference factor rather than an entirely separate training objective. Validate and conservatively deduplicate candidate strings, then apply the same frozen ranking procedure for generator comparisons. Gold aliases provide training labels and evaluation scores, but never enter development or test inference prompts. The research question asks whether DPO improves official factoid performance under these strategies and whether its incremental gain changes between them.</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The completed expansion pilot uses the same 160 questions. Llama covers 84 questions, GPT-4.1 mini covers 88, and their question-level union covers 102, or 63.75%, without further BioASQ-specific adaptation. This motivates multi-model pooling as one inference strategy to test. The union may contain more total candidates than an individual generator. Coverage is an oracle generation diagnostic and cannot establish final MRR or a DPO benefit. The next comparison applies task-specific SFT and subsequent DPO, with a fixed candidate budget and frozen ranking, to test whether training improves the strategy.</a:t>
            </a:r>
          </a:p>
          <a:p xmlns:a="http://schemas.openxmlformats.org/drawingml/2006/main">
            <a:r>
              <a:t/>
            </a:r>
          </a:p>
          <a:p xmlns:a="http://schemas.openxmlformats.org/drawingml/2006/main">
            <a:r>
              <a:t>Sources:</a:t>
            </a:r>
          </a:p>
          <a:p xmlns:a="http://schemas.openxmlformats.org/drawingml/2006/main">
            <a:r>
              <a:t>C:\Users\Dustin\Projects\BioASQ-MRES\Artifacts\gadi_runs\llama31_8b_equivalent_dev160\analysis-c672a1c9\per_question.jsonl</a:t>
            </a:r>
          </a:p>
          <a:p xmlns:a="http://schemas.openxmlformats.org/drawingml/2006/main">
            <a:r>
              <a:t>C:\Users\Dustin\Projects\BioASQ-MRES\Artifacts\notebook_runs\coverage_comparison\20260929-070458-a6267ca4\analysis-59ac5450\per_question.jsonl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85 seconds. Apply this training comparison within each predeclared inference configuration. A is an existing instruction-tuned checkpoint with no additional BioASQ adaptation. B uses task-specific SFT appropriate to the response format. C starts from B and applies DPO, retaining B as the frozen reference policy. D continues supervised learning for a comparable update budget. The main contrast is C minus B, which estimates DPO beyond SFT. Compare that increment across single output, repeated sampling and expansion, then evaluate a fixed-composition pooled configuration. Within every contrast, hold the backbone, evidence, output schema, decoding and inference budget constant. In pooled experiments freeze the companion generators and pool composition. Keep ranking frozen when testing generator DPO, so a ranking change does not confound it. Construct training preferences only from training questions, prioritising correct concepts, accepted expressions and evidence support. Expansion preferences must also control unsupported additions and lost coverage. A higher answer count alone is not a valid preference. Cross-fit adapted generator outputs used to train a ranker. A separate selector-DPO comparison, if undertaken, must use identical frozen pools and its own SFT reference.</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75 seconds. Official factoid MRR is the primary outcome, alongside strict and lenient accuracy. With a single answer, MRR equals exact accuracy. With ranked alternatives, MRR rewards an accepted answer more strongly when it appears earlier. Final factoid submissions use at most five alternatives. Coverage at ten and unrestricted union coverage diagnose candidate availability. Compute the paired DPO-minus-SFT difference within each strategy, then compare those increments to test whether inference strategy changes the DPO effect. Use 10,000 paired bootstrap resamples, report confidence intervals and training-seed variability separately, and account for multiple exploratory comparisons. A positive estimate with an interval excluding zero supports a benefit in the tested setting. An interval spanning zero indicates uncertainty. Compare semantic correctness, evidence support and candidate diversity to interpret gains or regressions. The development set has informed the design, so further tuning needs internal validation and an unseen final evaluation. Record request, token and candidate budgets to distinguish training improvements from extra inference effort.</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40 seconds. Return to the broad factoid research question: does DPO improve exact answering beyond matched SFT, and under which inference conditions? The initial single-output pilot supplies one observed result. The semantic/exact gap and model complementarity motivate alternative inference strategies. The pool pilot shows promising candidate availability before additional adaptation. The next step is a controlled study of DPO within and across these strategies. Expansion and pooling are experimental conditions in that study. A small, uncertain or negative DPO effect remains informative when the comparison controls additional training and inference effort. The intended contribution is an empirical account of where DPO helps factoid answering and how the inference formulation changes its usefulness.</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c1bdd47b4c40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3471ea27c84da2" /><Relationship Type="http://schemas.openxmlformats.org/officeDocument/2006/relationships/slideLayout" Target="/ppt/slideLayouts/slideLayout1.xml" Id="R0e337b90d45e47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337b90d45e47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96606dbfd141c4" /><Relationship Type="http://schemas.openxmlformats.org/officeDocument/2006/relationships/image" Target="/ppt/media/image.png" Id="R63fa1a98cfc346bf" /><Relationship Type="http://schemas.openxmlformats.org/officeDocument/2006/relationships/notesSlide" Target="/ppt/notesSlides/notesSlide1.xml" Id="R5d9fafbf87fe48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dd20fc57354e90" /><Relationship Type="http://schemas.openxmlformats.org/officeDocument/2006/relationships/notesSlide" Target="/ppt/notesSlides/notesSlide2.xml" Id="Rfb0cdfee2bc840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60881fb5cb4dcd" /><Relationship Type="http://schemas.openxmlformats.org/officeDocument/2006/relationships/notesSlide" Target="/ppt/notesSlides/notesSlide3.xml" Id="R6713ad2610ae4c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65df4ebd4947cd" /><Relationship Type="http://schemas.openxmlformats.org/officeDocument/2006/relationships/chart" Target="/ppt/slides/charts/chart1.xml" Id="Rd145b44520e7455a" /><Relationship Type="http://schemas.openxmlformats.org/officeDocument/2006/relationships/notesSlide" Target="/ppt/notesSlides/notesSlide4.xml" Id="R508fae87c3574d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0bf12591d443eb" /><Relationship Type="http://schemas.openxmlformats.org/officeDocument/2006/relationships/chart" Target="/ppt/slides/charts/chart2.xml" Id="Rfd1cde0a3c634005" /><Relationship Type="http://schemas.openxmlformats.org/officeDocument/2006/relationships/notesSlide" Target="/ppt/notesSlides/notesSlide5.xml" Id="Rff716187c5e441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fd9197d87947d8" /><Relationship Type="http://schemas.openxmlformats.org/officeDocument/2006/relationships/notesSlide" Target="/ppt/notesSlides/notesSlide6.xml" Id="R47183775927045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edd293ac344e26" /><Relationship Type="http://schemas.openxmlformats.org/officeDocument/2006/relationships/chart" Target="/ppt/slides/charts/chart3.xml" Id="R11d7da33d8964a4e" /><Relationship Type="http://schemas.openxmlformats.org/officeDocument/2006/relationships/notesSlide" Target="/ppt/notesSlides/notesSlide7.xml" Id="Rab176f5b056d42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2518839a1d4ff8" /><Relationship Type="http://schemas.openxmlformats.org/officeDocument/2006/relationships/notesSlide" Target="/ppt/notesSlides/notesSlide8.xml" Id="R0175c8c1c9b74f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a008d2507641ce" /><Relationship Type="http://schemas.openxmlformats.org/officeDocument/2006/relationships/notesSlide" Target="/ppt/notesSlides/notesSlide9.xml" Id="R474c185f2f8f4d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c7bf4cbb194e84" /><Relationship Type="http://schemas.openxmlformats.org/officeDocument/2006/relationships/notesSlide" Target="/ppt/notesSlides/notesSlide10.xml" Id="Rabb4a66382b045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Official exact accuracy</c:v>
          </c:tx>
          <c:spPr>
            <a:solidFill xmlns:a="http://schemas.openxmlformats.org/drawingml/2006/main">
              <a:srgbClr val="132C40"/>
            </a:solidFill>
          </c:spPr>
          <c:cat>
            <c:strRef>
              <c:f>'Chart Data'!$A$2:$A$3</c:f>
              <c:strCache>
                <c:ptCount val="2"/>
                <c:pt idx="0">
                  <c:v>Qwen2.5 0.5B</c:v>
                </c:pt>
                <c:pt idx="1">
                  <c:v>Qwen2.5 3B</c:v>
                </c:pt>
              </c:strCache>
            </c:strRef>
          </c:cat>
          <c:val>
            <c:numRef>
              <c:f>'Chart Data'!$B$2:$B$3</c:f>
              <c:numCache>
                <c:formatCode>0.0%</c:formatCode>
                <c:ptCount val="2"/>
                <c:pt idx="0">
                  <c:v>0.40625</c:v>
                </c:pt>
                <c:pt idx="1">
                  <c:v>0.44375</c:v>
                </c:pt>
              </c:numCache>
            </c:numRef>
          </c:val>
        </c:ser>
        <c:ser>
          <c:idx val="1"/>
          <c:order val="1"/>
          <c:tx>
            <c:v>LLM-judged semantic accuracy</c:v>
          </c:tx>
          <c:spPr>
            <a:solidFill xmlns:a="http://schemas.openxmlformats.org/drawingml/2006/main">
              <a:srgbClr val="087F8C"/>
            </a:solidFill>
          </c:spPr>
          <c:cat>
            <c:strRef>
              <c:f>'Chart Data'!$C$2:$C$3</c:f>
              <c:strCache>
                <c:ptCount val="2"/>
                <c:pt idx="0">
                  <c:v>Qwen2.5 0.5B</c:v>
                </c:pt>
                <c:pt idx="1">
                  <c:v>Qwen2.5 3B</c:v>
                </c:pt>
              </c:strCache>
            </c:strRef>
          </c:cat>
          <c:val>
            <c:numRef>
              <c:f>'Chart Data'!$D$2:$D$3</c:f>
              <c:numCache>
                <c:formatCode>0.0%</c:formatCode>
                <c:ptCount val="2"/>
                <c:pt idx="0">
                  <c:v>0.74375</c:v>
                </c:pt>
                <c:pt idx="1">
                  <c:v>0.8125</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0.2"/>
      </c:valAx>
      <c:spPr>
        <a:solidFill xmlns:a="http://schemas.openxmlformats.org/drawingml/2006/main">
          <a:srgbClr val="F6F4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32C40"/>
              </a:solidFill>
              <a:latin typeface="Arial"/>
              <a:ea typeface="Arial"/>
              <a:cs typeface="Arial"/>
            </a:defRPr>
          </a:pPr>
        </a:p>
      </c:txPr>
    </c:legend>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 questions</c:v>
          </c:tx>
          <c:spPr>
            <a:solidFill xmlns:a="http://schemas.openxmlformats.org/drawingml/2006/main">
              <a:srgbClr val="132C40"/>
            </a:solidFill>
          </c:spPr>
          <c:dPt>
            <c:idx val="0"/>
            <c:invertIfNegative val="0"/>
            <c:spPr>
              <a:solidFill xmlns:a="http://schemas.openxmlformats.org/drawingml/2006/main">
                <a:srgbClr val="132C40"/>
              </a:solidFill>
            </c:spPr>
          </c:dPt>
          <c:dPt>
            <c:idx val="1"/>
            <c:invertIfNegative val="0"/>
            <c:spPr>
              <a:solidFill xmlns:a="http://schemas.openxmlformats.org/drawingml/2006/main">
                <a:srgbClr val="087F8C"/>
              </a:solidFill>
            </c:spPr>
          </c:dPt>
          <c:dPt>
            <c:idx val="2"/>
            <c:invertIfNegative val="0"/>
            <c:spPr>
              <a:solidFill xmlns:a="http://schemas.openxmlformats.org/drawingml/2006/main">
                <a:srgbClr val="8EA8BD"/>
              </a:solidFill>
            </c:spPr>
          </c:dPt>
          <c:cat>
            <c:strRef>
              <c:f>'Chart Data'!$A$2:$A$4</c:f>
              <c:strCache>
                <c:ptCount val="3"/>
                <c:pt idx="0">
                  <c:v>Both models</c:v>
                </c:pt>
                <c:pt idx="1">
                  <c:v>Only 0.5B</c:v>
                </c:pt>
                <c:pt idx="2">
                  <c:v>Only 3B</c:v>
                </c:pt>
              </c:strCache>
            </c:strRef>
          </c:cat>
          <c:val>
            <c:numRef>
              <c:f>'Chart Data'!$B$2:$B$4</c:f>
              <c:numCache>
                <c:formatCode>0</c:formatCode>
                <c:ptCount val="3"/>
                <c:pt idx="0">
                  <c:v>51</c:v>
                </c:pt>
                <c:pt idx="1">
                  <c:v>14</c:v>
                </c:pt>
                <c:pt idx="2">
                  <c:v>20</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20"/>
      </c:valAx>
      <c:spPr>
        <a:solidFill xmlns:a="http://schemas.openxmlformats.org/drawingml/2006/main">
          <a:srgbClr val="F6F4EF"/>
        </a:solidFill>
        <a:ln xmlns:a="http://schemas.openxmlformats.org/drawingml/2006/main" w="0">
          <a:noFill/>
        </a:ln>
      </c:spPr>
    </c:plotArea>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Candidate coverage</c:v>
          </c:tx>
          <c:spPr>
            <a:solidFill xmlns:a="http://schemas.openxmlformats.org/drawingml/2006/main">
              <a:srgbClr val="132C40"/>
            </a:solidFill>
          </c:spPr>
          <c:dPt>
            <c:idx val="0"/>
            <c:invertIfNegative val="0"/>
            <c:spPr>
              <a:solidFill xmlns:a="http://schemas.openxmlformats.org/drawingml/2006/main">
                <a:srgbClr val="8EA8BD"/>
              </a:solidFill>
            </c:spPr>
          </c:dPt>
          <c:dPt>
            <c:idx val="1"/>
            <c:invertIfNegative val="0"/>
            <c:spPr>
              <a:solidFill xmlns:a="http://schemas.openxmlformats.org/drawingml/2006/main">
                <a:srgbClr val="132C40"/>
              </a:solidFill>
            </c:spPr>
          </c:dPt>
          <c:dPt>
            <c:idx val="2"/>
            <c:invertIfNegative val="0"/>
            <c:spPr>
              <a:solidFill xmlns:a="http://schemas.openxmlformats.org/drawingml/2006/main">
                <a:srgbClr val="087F8C"/>
              </a:solidFill>
            </c:spPr>
          </c:dPt>
          <c:cat>
            <c:strRef>
              <c:f>'Chart Data'!$A$2:$A$4</c:f>
              <c:strCache>
                <c:ptCount val="3"/>
                <c:pt idx="0">
                  <c:v>Llama-3.1-8B</c:v>
                </c:pt>
                <c:pt idx="1">
                  <c:v>GPT-4.1 mini</c:v>
                </c:pt>
                <c:pt idx="2">
                  <c:v>Combined pool</c:v>
                </c:pt>
              </c:strCache>
            </c:strRef>
          </c:cat>
          <c:val>
            <c:numRef>
              <c:f>'Chart Data'!$B$2:$B$4</c:f>
              <c:numCache>
                <c:formatCode>0.00%</c:formatCode>
                <c:ptCount val="3"/>
                <c:pt idx="0">
                  <c:v>0.525</c:v>
                </c:pt>
                <c:pt idx="1">
                  <c:v>0.55</c:v>
                </c:pt>
                <c:pt idx="2">
                  <c:v>0.6375</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10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0.2"/>
      </c:valAx>
      <c:spPr>
        <a:solidFill xmlns:a="http://schemas.openxmlformats.org/drawingml/2006/main">
          <a:srgbClr val="F6F4EF"/>
        </a:solidFill>
        <a:ln xmlns:a="http://schemas.openxmlformats.org/drawingml/2006/main" w="0">
          <a:noFill/>
        </a:ln>
      </c:spPr>
    </c:plotArea>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3fa1a98cfc346bf"/>
          <a:srcRect xmlns:a="http://schemas.openxmlformats.org/drawingml/2006/main" l="1852" t="0" r="1852"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F72391DD-301E-4F24-821C-B33EDD799FFB}"/>
              </a:ext>
            </a:extLst>
          </p:cNvPr>
          <p:cNvSpPr>
            <a:spLocks xmlns:a="http://schemas.openxmlformats.org/drawingml/2006/main" noGrp="1"/>
          </p:cNvSpPr>
          <p:nvPr/>
        </p:nvSpPr>
        <p:spPr>
          <a:xfrm xmlns:a="http://schemas.openxmlformats.org/drawingml/2006/main">
            <a:off x="685800" y="647700"/>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087F8C"/>
                </a:solidFill>
                <a:latin typeface="Arial"/>
                <a:ea typeface="Arial"/>
                <a:cs typeface="Arial"/>
              </a:defRPr>
            </a:pPr>
            <a:r>
              <a:rPr sz="2100" b="1">
                <a:solidFill>
                  <a:srgbClr val="087F8C"/>
                </a:solidFill>
                <a:latin typeface="Arial"/>
                <a:ea typeface="Arial"/>
                <a:cs typeface="Arial"/>
              </a:rPr>
              <a:t>Research methodology</a:t>
            </a:r>
          </a:p>
        </p:txBody>
      </p:sp>
      <p:sp>
        <p:nvSpPr>
          <p:cNvPr id="3" name="text-1">
            <a:extLst xmlns:a="http://schemas.openxmlformats.org/drawingml/2006/main">
              <a:ext uri="{FF2B5EF4-FFF2-40B4-BE49-F238E27FC236}">
                <a16:creationId xmlns:a16="http://schemas.microsoft.com/office/drawing/2014/main" id="{AD572CF5-13E9-4D8E-9826-CB716A3D44A7}"/>
              </a:ext>
            </a:extLst>
          </p:cNvPr>
          <p:cNvSpPr>
            <a:spLocks xmlns:a="http://schemas.openxmlformats.org/drawingml/2006/main" noGrp="1"/>
          </p:cNvSpPr>
          <p:nvPr/>
        </p:nvSpPr>
        <p:spPr>
          <a:xfrm xmlns:a="http://schemas.openxmlformats.org/drawingml/2006/main">
            <a:off x="685800" y="1714500"/>
            <a:ext cx="685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500" b="1">
                <a:solidFill>
                  <a:srgbClr val="132C40"/>
                </a:solidFill>
                <a:latin typeface="Arial"/>
                <a:ea typeface="Arial"/>
                <a:cs typeface="Arial"/>
              </a:defRPr>
            </a:pPr>
            <a:r>
              <a:rPr sz="4500" b="1">
                <a:solidFill>
                  <a:srgbClr val="132C40"/>
                </a:solidFill>
                <a:latin typeface="Arial"/>
                <a:ea typeface="Arial"/>
                <a:cs typeface="Arial"/>
              </a:rPr>
              <a:t>DPO for BioASQ</a:t>
            </a:r>
          </a:p>
          <a:p xmlns:a="http://schemas.openxmlformats.org/drawingml/2006/main">
            <a:pPr algn="l">
              <a:lnSpc>
                <a:spcPct val="112000"/>
              </a:lnSpc>
              <a:buNone/>
              <a:defRPr sz="4500" b="1">
                <a:solidFill>
                  <a:srgbClr val="132C40"/>
                </a:solidFill>
                <a:latin typeface="Arial"/>
                <a:ea typeface="Arial"/>
                <a:cs typeface="Arial"/>
              </a:defRPr>
            </a:pPr>
            <a:r>
              <a:rPr sz="4500" b="1">
                <a:solidFill>
                  <a:srgbClr val="132C40"/>
                </a:solidFill>
                <a:latin typeface="Arial"/>
                <a:ea typeface="Arial"/>
                <a:cs typeface="Arial"/>
              </a:rPr>
              <a:t>Factoid Answering</a:t>
            </a:r>
          </a:p>
        </p:txBody>
      </p:sp>
      <p:sp>
        <p:nvSpPr>
          <p:cNvPr id="4" name="text-2">
            <a:extLst xmlns:a="http://schemas.openxmlformats.org/drawingml/2006/main">
              <a:ext uri="{FF2B5EF4-FFF2-40B4-BE49-F238E27FC236}">
                <a16:creationId xmlns:a16="http://schemas.microsoft.com/office/drawing/2014/main" id="{46079D0F-8A3F-4299-AD64-88CDCF73BBE3}"/>
              </a:ext>
            </a:extLst>
          </p:cNvPr>
          <p:cNvSpPr>
            <a:spLocks xmlns:a="http://schemas.openxmlformats.org/drawingml/2006/main" noGrp="1"/>
          </p:cNvSpPr>
          <p:nvPr/>
        </p:nvSpPr>
        <p:spPr>
          <a:xfrm xmlns:a="http://schemas.openxmlformats.org/drawingml/2006/main">
            <a:off x="685800" y="40386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546875"/>
                </a:solidFill>
                <a:latin typeface="Arial"/>
                <a:ea typeface="Arial"/>
                <a:cs typeface="Arial"/>
              </a:defRPr>
            </a:pPr>
            <a:r>
              <a:rPr sz="2100" b="0">
                <a:solidFill>
                  <a:srgbClr val="546875"/>
                </a:solidFill>
                <a:latin typeface="Arial"/>
                <a:ea typeface="Arial"/>
                <a:cs typeface="Arial"/>
              </a:rPr>
              <a:t>Investigating Direct Preference Optimisation</a:t>
            </a:r>
          </a:p>
          <a:p xmlns:a="http://schemas.openxmlformats.org/drawingml/2006/main">
            <a:pPr algn="l">
              <a:lnSpc>
                <a:spcPct val="112000"/>
              </a:lnSpc>
              <a:buNone/>
              <a:defRPr sz="2100" b="0">
                <a:solidFill>
                  <a:srgbClr val="546875"/>
                </a:solidFill>
                <a:latin typeface="Arial"/>
                <a:ea typeface="Arial"/>
                <a:cs typeface="Arial"/>
              </a:defRPr>
            </a:pPr>
            <a:r>
              <a:rPr sz="2100" b="0">
                <a:solidFill>
                  <a:srgbClr val="546875"/>
                </a:solidFill>
                <a:latin typeface="Arial"/>
                <a:ea typeface="Arial"/>
                <a:cs typeface="Arial"/>
              </a:rPr>
              <a:t>across inference strategies</a:t>
            </a:r>
          </a:p>
        </p:txBody>
      </p:sp>
      <p:sp>
        <p:nvSpPr>
          <p:cNvPr id="5" name="text-3">
            <a:extLst xmlns:a="http://schemas.openxmlformats.org/drawingml/2006/main">
              <a:ext uri="{FF2B5EF4-FFF2-40B4-BE49-F238E27FC236}">
                <a16:creationId xmlns:a16="http://schemas.microsoft.com/office/drawing/2014/main" id="{BA0C4F9A-23B1-4940-8F57-060A9CC69133}"/>
              </a:ext>
            </a:extLst>
          </p:cNvPr>
          <p:cNvSpPr>
            <a:spLocks xmlns:a="http://schemas.openxmlformats.org/drawingml/2006/main" noGrp="1"/>
          </p:cNvSpPr>
          <p:nvPr/>
        </p:nvSpPr>
        <p:spPr>
          <a:xfrm xmlns:a="http://schemas.openxmlformats.org/drawingml/2006/main">
            <a:off x="685800" y="5905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COMP8990 · MRes · 6 October 2026</a:t>
            </a:r>
          </a:p>
        </p:txBody>
      </p:sp>
    </p:spTree>
    <p:extLst>
      <p:ext uri="{BB962C8B-B14F-4D97-AF65-F5344CB8AC3E}">
        <p14:creationId xmlns:p14="http://schemas.microsoft.com/office/powerpoint/2010/main" val="733943753"/>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FDF8FB5-2A5E-4266-AD3C-5104FECDE4BC}"/>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What counts as a correct answer?</a:t>
            </a:r>
          </a:p>
        </p:txBody>
      </p:sp>
      <p:sp>
        <p:nvSpPr>
          <p:cNvPr id="2" name="text-1">
            <a:extLst xmlns:a="http://schemas.openxmlformats.org/drawingml/2006/main">
              <a:ext uri="{FF2B5EF4-FFF2-40B4-BE49-F238E27FC236}">
                <a16:creationId xmlns:a16="http://schemas.microsoft.com/office/drawing/2014/main" id="{560A9551-8CF9-4432-A1D4-515800AD9A0C}"/>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Real BioASQ factoid example · PMID 23255952</a:t>
            </a:r>
          </a:p>
        </p:txBody>
      </p:sp>
      <p:sp>
        <p:nvSpPr>
          <p:cNvPr id="3" name="text-2">
            <a:extLst xmlns:a="http://schemas.openxmlformats.org/drawingml/2006/main">
              <a:ext uri="{FF2B5EF4-FFF2-40B4-BE49-F238E27FC236}">
                <a16:creationId xmlns:a16="http://schemas.microsoft.com/office/drawing/2014/main" id="{48303634-A471-4ABE-B9EB-333AF093D6A2}"/>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2</a:t>
            </a:r>
          </a:p>
        </p:txBody>
      </p:sp>
      <p:sp>
        <p:nvSpPr>
          <p:cNvPr id="4" name="text-3">
            <a:extLst xmlns:a="http://schemas.openxmlformats.org/drawingml/2006/main">
              <a:ext uri="{FF2B5EF4-FFF2-40B4-BE49-F238E27FC236}">
                <a16:creationId xmlns:a16="http://schemas.microsoft.com/office/drawing/2014/main" id="{B6C49E20-C94C-414B-AFAD-555315168948}"/>
              </a:ext>
            </a:extLst>
          </p:cNvPr>
          <p:cNvSpPr>
            <a:spLocks xmlns:a="http://schemas.openxmlformats.org/drawingml/2006/main" noGrp="1"/>
          </p:cNvSpPr>
          <p:nvPr/>
        </p:nvSpPr>
        <p:spPr>
          <a:xfrm xmlns:a="http://schemas.openxmlformats.org/drawingml/2006/main">
            <a:off x="685800" y="20193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1">
                <a:solidFill>
                  <a:srgbClr val="132C40"/>
                </a:solidFill>
                <a:latin typeface="Arial"/>
                <a:ea typeface="Arial"/>
                <a:cs typeface="Arial"/>
              </a:defRPr>
            </a:pPr>
            <a:r>
              <a:rPr sz="2925" b="1">
                <a:solidFill>
                  <a:srgbClr val="132C40"/>
                </a:solidFill>
                <a:latin typeface="Arial"/>
                <a:ea typeface="Arial"/>
                <a:cs typeface="Arial"/>
              </a:rPr>
              <a:t>Which is the cellular target of gefitinib?</a:t>
            </a:r>
          </a:p>
        </p:txBody>
      </p:sp>
      <p:sp>
        <p:nvSpPr>
          <p:cNvPr id="5" name="text-4">
            <a:extLst xmlns:a="http://schemas.openxmlformats.org/drawingml/2006/main">
              <a:ext uri="{FF2B5EF4-FFF2-40B4-BE49-F238E27FC236}">
                <a16:creationId xmlns:a16="http://schemas.microsoft.com/office/drawing/2014/main" id="{147D6FDF-8E90-44A8-9111-089AC74E15F7}"/>
              </a:ext>
            </a:extLst>
          </p:cNvPr>
          <p:cNvSpPr>
            <a:spLocks xmlns:a="http://schemas.openxmlformats.org/drawingml/2006/main" noGrp="1"/>
          </p:cNvSpPr>
          <p:nvPr/>
        </p:nvSpPr>
        <p:spPr>
          <a:xfrm xmlns:a="http://schemas.openxmlformats.org/drawingml/2006/main">
            <a:off x="685800" y="2933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87F8C"/>
                </a:solidFill>
                <a:latin typeface="Arial"/>
                <a:ea typeface="Arial"/>
                <a:cs typeface="Arial"/>
              </a:defRPr>
            </a:pPr>
            <a:r>
              <a:rPr sz="1650" b="1">
                <a:solidFill>
                  <a:srgbClr val="087F8C"/>
                </a:solidFill>
                <a:latin typeface="Arial"/>
                <a:ea typeface="Arial"/>
                <a:cs typeface="Arial"/>
              </a:rPr>
              <a:t>SUPPLIED SNIPPET</a:t>
            </a:r>
          </a:p>
        </p:txBody>
      </p:sp>
      <p:sp>
        <p:nvSpPr>
          <p:cNvPr id="6" name="text-5">
            <a:extLst xmlns:a="http://schemas.openxmlformats.org/drawingml/2006/main">
              <a:ext uri="{FF2B5EF4-FFF2-40B4-BE49-F238E27FC236}">
                <a16:creationId xmlns:a16="http://schemas.microsoft.com/office/drawing/2014/main" id="{10C0F00E-D2CA-4C22-855F-73CC887D17D5}"/>
              </a:ext>
            </a:extLst>
          </p:cNvPr>
          <p:cNvSpPr>
            <a:spLocks xmlns:a="http://schemas.openxmlformats.org/drawingml/2006/main" noGrp="1"/>
          </p:cNvSpPr>
          <p:nvPr/>
        </p:nvSpPr>
        <p:spPr>
          <a:xfrm xmlns:a="http://schemas.openxmlformats.org/drawingml/2006/main">
            <a:off x="685800" y="33718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32C40"/>
                </a:solidFill>
                <a:latin typeface="Arial"/>
                <a:ea typeface="Arial"/>
                <a:cs typeface="Arial"/>
              </a:defRPr>
            </a:pPr>
            <a:r>
              <a:rPr sz="2325" b="0">
                <a:solidFill>
                  <a:srgbClr val="132C40"/>
                </a:solidFill>
                <a:latin typeface="Arial"/>
                <a:ea typeface="Arial"/>
                <a:cs typeface="Arial"/>
              </a:rPr>
              <a:t>“Gefitinib, the specific inhibitor of the epidermal growth factor receptor (EGFR), may cause growth delay in cancer cell lines.”</a:t>
            </a:r>
          </a:p>
        </p:txBody>
      </p:sp>
      <p:sp>
        <p:nvSpPr>
          <p:cNvPr id="7" name="text-6">
            <a:extLst xmlns:a="http://schemas.openxmlformats.org/drawingml/2006/main">
              <a:ext uri="{FF2B5EF4-FFF2-40B4-BE49-F238E27FC236}">
                <a16:creationId xmlns:a16="http://schemas.microsoft.com/office/drawing/2014/main" id="{0BCF779C-FEA8-46BE-B254-BCB77B1029F7}"/>
              </a:ext>
            </a:extLst>
          </p:cNvPr>
          <p:cNvSpPr>
            <a:spLocks xmlns:a="http://schemas.openxmlformats.org/drawingml/2006/main" noGrp="1"/>
          </p:cNvSpPr>
          <p:nvPr/>
        </p:nvSpPr>
        <p:spPr>
          <a:xfrm xmlns:a="http://schemas.openxmlformats.org/drawingml/2006/main">
            <a:off x="685800" y="4629150"/>
            <a:ext cx="491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87F8C"/>
                </a:solidFill>
                <a:latin typeface="Arial"/>
                <a:ea typeface="Arial"/>
                <a:cs typeface="Arial"/>
              </a:defRPr>
            </a:pPr>
            <a:r>
              <a:rPr sz="1650" b="1">
                <a:solidFill>
                  <a:srgbClr val="087F8C"/>
                </a:solidFill>
                <a:latin typeface="Arial"/>
                <a:ea typeface="Arial"/>
                <a:cs typeface="Arial"/>
              </a:rPr>
              <a:t>ACCEPTED ANSWER</a:t>
            </a:r>
          </a:p>
        </p:txBody>
      </p:sp>
      <p:sp>
        <p:nvSpPr>
          <p:cNvPr id="8" name="text-7">
            <a:extLst xmlns:a="http://schemas.openxmlformats.org/drawingml/2006/main">
              <a:ext uri="{FF2B5EF4-FFF2-40B4-BE49-F238E27FC236}">
                <a16:creationId xmlns:a16="http://schemas.microsoft.com/office/drawing/2014/main" id="{6A42EAB9-B6D1-4FA9-AF43-7A61A34321AE}"/>
              </a:ext>
            </a:extLst>
          </p:cNvPr>
          <p:cNvSpPr>
            <a:spLocks xmlns:a="http://schemas.openxmlformats.org/drawingml/2006/main" noGrp="1"/>
          </p:cNvSpPr>
          <p:nvPr/>
        </p:nvSpPr>
        <p:spPr>
          <a:xfrm xmlns:a="http://schemas.openxmlformats.org/drawingml/2006/main">
            <a:off x="685800" y="5048250"/>
            <a:ext cx="49149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C"/>
                </a:solidFill>
                <a:latin typeface="Arial"/>
                <a:ea typeface="Arial"/>
                <a:cs typeface="Arial"/>
              </a:defRPr>
            </a:pPr>
            <a:r>
              <a:rPr sz="2400" b="1">
                <a:solidFill>
                  <a:srgbClr val="087F8C"/>
                </a:solidFill>
                <a:latin typeface="Arial"/>
                <a:ea typeface="Arial"/>
                <a:cs typeface="Arial"/>
              </a:rPr>
              <a:t>Epidermal growth factor</a:t>
            </a:r>
          </a:p>
          <a:p xmlns:a="http://schemas.openxmlformats.org/drawingml/2006/main">
            <a:pPr algn="l">
              <a:lnSpc>
                <a:spcPct val="112000"/>
              </a:lnSpc>
              <a:buNone/>
              <a:defRPr sz="2400" b="1">
                <a:solidFill>
                  <a:srgbClr val="087F8C"/>
                </a:solidFill>
                <a:latin typeface="Arial"/>
                <a:ea typeface="Arial"/>
                <a:cs typeface="Arial"/>
              </a:defRPr>
            </a:pPr>
            <a:r>
              <a:rPr sz="2400" b="1">
                <a:solidFill>
                  <a:srgbClr val="087F8C"/>
                </a:solidFill>
                <a:latin typeface="Arial"/>
                <a:ea typeface="Arial"/>
                <a:cs typeface="Arial"/>
              </a:rPr>
              <a:t>receptor (EGFR)</a:t>
            </a:r>
          </a:p>
        </p:txBody>
      </p:sp>
      <p:sp>
        <p:nvSpPr>
          <p:cNvPr id="9" name="text-8">
            <a:extLst xmlns:a="http://schemas.openxmlformats.org/drawingml/2006/main">
              <a:ext uri="{FF2B5EF4-FFF2-40B4-BE49-F238E27FC236}">
                <a16:creationId xmlns:a16="http://schemas.microsoft.com/office/drawing/2014/main" id="{99E88DFB-9996-4547-AF29-F8FCDFDBCB1A}"/>
              </a:ext>
            </a:extLst>
          </p:cNvPr>
          <p:cNvSpPr>
            <a:spLocks xmlns:a="http://schemas.openxmlformats.org/drawingml/2006/main" noGrp="1"/>
          </p:cNvSpPr>
          <p:nvPr/>
        </p:nvSpPr>
        <p:spPr>
          <a:xfrm xmlns:a="http://schemas.openxmlformats.org/drawingml/2006/main">
            <a:off x="685800" y="614362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546875"/>
                </a:solidFill>
                <a:latin typeface="Arial"/>
                <a:ea typeface="Arial"/>
                <a:cs typeface="Arial"/>
              </a:defRPr>
            </a:pPr>
            <a:r>
              <a:rPr sz="2100" b="0">
                <a:solidFill>
                  <a:srgbClr val="546875"/>
                </a:solidFill>
                <a:latin typeface="Arial"/>
                <a:ea typeface="Arial"/>
                <a:cs typeface="Arial"/>
              </a:rPr>
              <a:t>Correct meaning does not guarantee exact-answer credit.</a:t>
            </a:r>
          </a:p>
        </p:txBody>
      </p:sp>
      <p:sp>
        <p:nvSpPr>
          <p:cNvPr id="11" name="answer-form-9">
            <a:extLst xmlns:a="http://schemas.openxmlformats.org/drawingml/2006/main">
              <a:ext uri="{FF2B5EF4-FFF2-40B4-BE49-F238E27FC236}">
                <a16:creationId xmlns:a16="http://schemas.microsoft.com/office/drawing/2014/main" id="{2CC304BE-2F75-44C3-9C91-E369FE045CE6}"/>
              </a:ext>
            </a:extLst>
          </p:cNvPr>
          <p:cNvSpPr>
            <a:spLocks xmlns:a="http://schemas.openxmlformats.org/drawingml/2006/main" noGrp="1"/>
          </p:cNvSpPr>
          <p:nvPr/>
        </p:nvSpPr>
        <p:spPr>
          <a:xfrm xmlns:a="http://schemas.openxmlformats.org/drawingml/2006/main">
            <a:off x="6134100" y="4629150"/>
            <a:ext cx="5372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32C40"/>
                </a:solidFill>
                <a:latin typeface="Arial"/>
                <a:ea typeface="Arial"/>
                <a:cs typeface="Arial"/>
              </a:defRPr>
            </a:pPr>
            <a:r>
              <a:rPr sz="1650" b="1">
                <a:solidFill>
                  <a:srgbClr val="132C40"/>
                </a:solidFill>
                <a:latin typeface="Arial"/>
                <a:ea typeface="Arial"/>
                <a:cs typeface="Arial"/>
              </a:rPr>
              <a:t>CORRECT CONCEPT, DIFFERENT FORM</a:t>
            </a:r>
          </a:p>
        </p:txBody>
      </p:sp>
      <p:sp>
        <p:nvSpPr>
          <p:cNvPr id="12" name="answer-form-10">
            <a:extLst xmlns:a="http://schemas.openxmlformats.org/drawingml/2006/main">
              <a:ext uri="{FF2B5EF4-FFF2-40B4-BE49-F238E27FC236}">
                <a16:creationId xmlns:a16="http://schemas.microsoft.com/office/drawing/2014/main" id="{774C279C-3D91-4599-B419-73EAFB1668EF}"/>
              </a:ext>
            </a:extLst>
          </p:cNvPr>
          <p:cNvSpPr>
            <a:spLocks xmlns:a="http://schemas.openxmlformats.org/drawingml/2006/main" noGrp="1"/>
          </p:cNvSpPr>
          <p:nvPr/>
        </p:nvSpPr>
        <p:spPr>
          <a:xfrm xmlns:a="http://schemas.openxmlformats.org/drawingml/2006/main">
            <a:off x="6134100" y="5048250"/>
            <a:ext cx="53721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32C40"/>
                </a:solidFill>
                <a:latin typeface="Arial"/>
                <a:ea typeface="Arial"/>
                <a:cs typeface="Arial"/>
              </a:defRPr>
            </a:pPr>
            <a:r>
              <a:rPr sz="2400" b="0">
                <a:solidFill>
                  <a:srgbClr val="132C40"/>
                </a:solidFill>
                <a:latin typeface="Arial"/>
                <a:ea typeface="Arial"/>
                <a:cs typeface="Arial"/>
              </a:rPr>
              <a:t>epidermal growth factor receptor</a:t>
            </a:r>
          </a:p>
          <a:p xmlns:a="http://schemas.openxmlformats.org/drawingml/2006/main">
            <a:pPr algn="l">
              <a:lnSpc>
                <a:spcPct val="112000"/>
              </a:lnSpc>
              <a:buNone/>
              <a:defRPr sz="2400" b="0">
                <a:solidFill>
                  <a:srgbClr val="132C40"/>
                </a:solidFill>
                <a:latin typeface="Arial"/>
                <a:ea typeface="Arial"/>
                <a:cs typeface="Arial"/>
              </a:defRPr>
            </a:pPr>
            <a:r>
              <a:rPr sz="2400" b="0">
                <a:solidFill>
                  <a:srgbClr val="132C40"/>
                </a:solidFill>
                <a:latin typeface="Arial"/>
                <a:ea typeface="Arial"/>
                <a:cs typeface="Arial"/>
              </a:rPr>
              <a:t>EGFR</a:t>
            </a:r>
          </a:p>
        </p:txBody>
      </p:sp>
    </p:spTree>
    <p:extLst>
      <p:ext uri="{BB962C8B-B14F-4D97-AF65-F5344CB8AC3E}">
        <p14:creationId xmlns:p14="http://schemas.microsoft.com/office/powerpoint/2010/main" val="1137668972"/>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923F850D-FEF2-4EBB-9093-9AFD7E508C09}"/>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initial single-output study</a:t>
            </a:r>
          </a:p>
        </p:txBody>
      </p:sp>
      <p:sp>
        <p:nvSpPr>
          <p:cNvPr id="2" name="text-1">
            <a:extLst xmlns:a="http://schemas.openxmlformats.org/drawingml/2006/main">
              <a:ext uri="{FF2B5EF4-FFF2-40B4-BE49-F238E27FC236}">
                <a16:creationId xmlns:a16="http://schemas.microsoft.com/office/drawing/2014/main" id="{83236A4B-F34A-4A22-8A23-4F705C8F5CB7}"/>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Project-reported pilot finding</a:t>
            </a:r>
          </a:p>
        </p:txBody>
      </p:sp>
      <p:sp>
        <p:nvSpPr>
          <p:cNvPr id="3" name="text-2">
            <a:extLst xmlns:a="http://schemas.openxmlformats.org/drawingml/2006/main">
              <a:ext uri="{FF2B5EF4-FFF2-40B4-BE49-F238E27FC236}">
                <a16:creationId xmlns:a16="http://schemas.microsoft.com/office/drawing/2014/main" id="{7CC6B51D-BFE5-4C83-93DF-827195CD50D0}"/>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3</a:t>
            </a:r>
          </a:p>
        </p:txBody>
      </p:sp>
      <p:sp>
        <p:nvSpPr>
          <p:cNvPr id="4" name="text-3">
            <a:extLst xmlns:a="http://schemas.openxmlformats.org/drawingml/2006/main">
              <a:ext uri="{FF2B5EF4-FFF2-40B4-BE49-F238E27FC236}">
                <a16:creationId xmlns:a16="http://schemas.microsoft.com/office/drawing/2014/main" id="{801BF576-ACED-4F9B-A304-8179625F365B}"/>
              </a:ext>
            </a:extLst>
          </p:cNvPr>
          <p:cNvSpPr>
            <a:spLocks xmlns:a="http://schemas.openxmlformats.org/drawingml/2006/main" noGrp="1"/>
          </p:cNvSpPr>
          <p:nvPr/>
        </p:nvSpPr>
        <p:spPr>
          <a:xfrm xmlns:a="http://schemas.openxmlformats.org/drawingml/2006/main">
            <a:off x="685800" y="22193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8EA8BD"/>
                </a:solidFill>
                <a:latin typeface="Arial"/>
                <a:ea typeface="Arial"/>
                <a:cs typeface="Arial"/>
              </a:defRPr>
            </a:pPr>
            <a:r>
              <a:rPr sz="3600" b="1">
                <a:solidFill>
                  <a:srgbClr val="8EA8BD"/>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B7462B21-DF38-4845-A88A-21B87AF9F2C9}"/>
              </a:ext>
            </a:extLst>
          </p:cNvPr>
          <p:cNvSpPr>
            <a:spLocks xmlns:a="http://schemas.openxmlformats.org/drawingml/2006/main" noGrp="1"/>
          </p:cNvSpPr>
          <p:nvPr/>
        </p:nvSpPr>
        <p:spPr>
          <a:xfrm xmlns:a="http://schemas.openxmlformats.org/drawingml/2006/main">
            <a:off x="1809750" y="2095500"/>
            <a:ext cx="361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Single answer</a:t>
            </a:r>
          </a:p>
        </p:txBody>
      </p:sp>
      <p:sp>
        <p:nvSpPr>
          <p:cNvPr id="6" name="text-5">
            <a:extLst xmlns:a="http://schemas.openxmlformats.org/drawingml/2006/main">
              <a:ext uri="{FF2B5EF4-FFF2-40B4-BE49-F238E27FC236}">
                <a16:creationId xmlns:a16="http://schemas.microsoft.com/office/drawing/2014/main" id="{12F147DD-3852-4FCA-8AB4-BB4AD6D95AD7}"/>
              </a:ext>
            </a:extLst>
          </p:cNvPr>
          <p:cNvSpPr>
            <a:spLocks xmlns:a="http://schemas.openxmlformats.org/drawingml/2006/main" noGrp="1"/>
          </p:cNvSpPr>
          <p:nvPr/>
        </p:nvSpPr>
        <p:spPr>
          <a:xfrm xmlns:a="http://schemas.openxmlformats.org/drawingml/2006/main">
            <a:off x="5905500" y="210502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One response commits to one expression.</a:t>
            </a:r>
          </a:p>
        </p:txBody>
      </p:sp>
      <p:sp>
        <p:nvSpPr>
          <p:cNvPr id="7" name="text-6">
            <a:extLst xmlns:a="http://schemas.openxmlformats.org/drawingml/2006/main">
              <a:ext uri="{FF2B5EF4-FFF2-40B4-BE49-F238E27FC236}">
                <a16:creationId xmlns:a16="http://schemas.microsoft.com/office/drawing/2014/main" id="{815EBD7A-572F-407A-9320-416278707F31}"/>
              </a:ext>
            </a:extLst>
          </p:cNvPr>
          <p:cNvSpPr>
            <a:spLocks xmlns:a="http://schemas.openxmlformats.org/drawingml/2006/main" noGrp="1"/>
          </p:cNvSpPr>
          <p:nvPr/>
        </p:nvSpPr>
        <p:spPr>
          <a:xfrm xmlns:a="http://schemas.openxmlformats.org/drawingml/2006/main">
            <a:off x="685800" y="34766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8EA8BD"/>
                </a:solidFill>
                <a:latin typeface="Arial"/>
                <a:ea typeface="Arial"/>
                <a:cs typeface="Arial"/>
              </a:defRPr>
            </a:pPr>
            <a:r>
              <a:rPr sz="3600" b="1">
                <a:solidFill>
                  <a:srgbClr val="8EA8BD"/>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2A6DFB75-43B5-4489-8540-D9F2A9D1EF25}"/>
              </a:ext>
            </a:extLst>
          </p:cNvPr>
          <p:cNvSpPr>
            <a:spLocks xmlns:a="http://schemas.openxmlformats.org/drawingml/2006/main" noGrp="1"/>
          </p:cNvSpPr>
          <p:nvPr/>
        </p:nvSpPr>
        <p:spPr>
          <a:xfrm xmlns:a="http://schemas.openxmlformats.org/drawingml/2006/main">
            <a:off x="1809750" y="33528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SFT improves scores</a:t>
            </a:r>
          </a:p>
        </p:txBody>
      </p:sp>
      <p:sp>
        <p:nvSpPr>
          <p:cNvPr id="9" name="text-8">
            <a:extLst xmlns:a="http://schemas.openxmlformats.org/drawingml/2006/main">
              <a:ext uri="{FF2B5EF4-FFF2-40B4-BE49-F238E27FC236}">
                <a16:creationId xmlns:a16="http://schemas.microsoft.com/office/drawing/2014/main" id="{0A4CBADD-E13A-469E-BAE9-7071229921BF}"/>
              </a:ext>
            </a:extLst>
          </p:cNvPr>
          <p:cNvSpPr>
            <a:spLocks xmlns:a="http://schemas.openxmlformats.org/drawingml/2006/main" noGrp="1"/>
          </p:cNvSpPr>
          <p:nvPr/>
        </p:nvSpPr>
        <p:spPr>
          <a:xfrm xmlns:a="http://schemas.openxmlformats.org/drawingml/2006/main">
            <a:off x="5905500" y="336232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SFT learns from target answers.</a:t>
            </a:r>
          </a:p>
        </p:txBody>
      </p:sp>
      <p:sp>
        <p:nvSpPr>
          <p:cNvPr id="10" name="text-9">
            <a:extLst xmlns:a="http://schemas.openxmlformats.org/drawingml/2006/main">
              <a:ext uri="{FF2B5EF4-FFF2-40B4-BE49-F238E27FC236}">
                <a16:creationId xmlns:a16="http://schemas.microsoft.com/office/drawing/2014/main" id="{46744131-48C0-4F2C-A542-8BAA696FAEEB}"/>
              </a:ext>
            </a:extLst>
          </p:cNvPr>
          <p:cNvSpPr>
            <a:spLocks xmlns:a="http://schemas.openxmlformats.org/drawingml/2006/main" noGrp="1"/>
          </p:cNvSpPr>
          <p:nvPr/>
        </p:nvSpPr>
        <p:spPr>
          <a:xfrm xmlns:a="http://schemas.openxmlformats.org/drawingml/2006/main">
            <a:off x="685800" y="47339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087F8C"/>
                </a:solidFill>
                <a:latin typeface="Arial"/>
                <a:ea typeface="Arial"/>
                <a:cs typeface="Arial"/>
              </a:defRPr>
            </a:pPr>
            <a:r>
              <a:rPr sz="3600" b="1">
                <a:solidFill>
                  <a:srgbClr val="087F8C"/>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6C90A6FC-99E6-4600-9909-E55A6EE835F4}"/>
              </a:ext>
            </a:extLst>
          </p:cNvPr>
          <p:cNvSpPr>
            <a:spLocks xmlns:a="http://schemas.openxmlformats.org/drawingml/2006/main" noGrp="1"/>
          </p:cNvSpPr>
          <p:nvPr/>
        </p:nvSpPr>
        <p:spPr>
          <a:xfrm xmlns:a="http://schemas.openxmlformats.org/drawingml/2006/main">
            <a:off x="1809750" y="461010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87F8C"/>
                </a:solidFill>
                <a:latin typeface="Arial"/>
                <a:ea typeface="Arial"/>
                <a:cs typeface="Arial"/>
              </a:defRPr>
            </a:pPr>
            <a:r>
              <a:rPr sz="2700" b="1">
                <a:solidFill>
                  <a:srgbClr val="087F8C"/>
                </a:solidFill>
                <a:latin typeface="Arial"/>
                <a:ea typeface="Arial"/>
                <a:cs typeface="Arial"/>
              </a:rPr>
              <a:t>DPO adds marginal gains</a:t>
            </a:r>
          </a:p>
        </p:txBody>
      </p:sp>
      <p:sp>
        <p:nvSpPr>
          <p:cNvPr id="12" name="text-11">
            <a:extLst xmlns:a="http://schemas.openxmlformats.org/drawingml/2006/main">
              <a:ext uri="{FF2B5EF4-FFF2-40B4-BE49-F238E27FC236}">
                <a16:creationId xmlns:a16="http://schemas.microsoft.com/office/drawing/2014/main" id="{3B65015A-B278-4843-A965-91D0CC99FAEA}"/>
              </a:ext>
            </a:extLst>
          </p:cNvPr>
          <p:cNvSpPr>
            <a:spLocks xmlns:a="http://schemas.openxmlformats.org/drawingml/2006/main" noGrp="1"/>
          </p:cNvSpPr>
          <p:nvPr/>
        </p:nvSpPr>
        <p:spPr>
          <a:xfrm xmlns:a="http://schemas.openxmlformats.org/drawingml/2006/main">
            <a:off x="6667500" y="461962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DPO learns from preferred and rejected responses.</a:t>
            </a:r>
          </a:p>
        </p:txBody>
      </p:sp>
      <p:sp>
        <p:nvSpPr>
          <p:cNvPr id="13" name="text-12">
            <a:extLst xmlns:a="http://schemas.openxmlformats.org/drawingml/2006/main">
              <a:ext uri="{FF2B5EF4-FFF2-40B4-BE49-F238E27FC236}">
                <a16:creationId xmlns:a16="http://schemas.microsoft.com/office/drawing/2014/main" id="{0AB3B575-B984-40F9-9296-3F262FBBC0B0}"/>
              </a:ext>
            </a:extLst>
          </p:cNvPr>
          <p:cNvSpPr>
            <a:spLocks xmlns:a="http://schemas.openxmlformats.org/drawingml/2006/main" noGrp="1"/>
          </p:cNvSpPr>
          <p:nvPr/>
        </p:nvSpPr>
        <p:spPr>
          <a:xfrm xmlns:a="http://schemas.openxmlformats.org/drawingml/2006/main">
            <a:off x="685800" y="58293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Does DPO’s effect change with the inference strategy?</a:t>
            </a:r>
          </a:p>
        </p:txBody>
      </p:sp>
    </p:spTree>
    <p:extLst>
      <p:ext uri="{BB962C8B-B14F-4D97-AF65-F5344CB8AC3E}">
        <p14:creationId xmlns:p14="http://schemas.microsoft.com/office/powerpoint/2010/main" val="1831909385"/>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EF2F0E5-85CC-42AC-91B5-4C0A97EF153E}"/>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A correct concept can miss exact-answer credit</a:t>
            </a:r>
          </a:p>
        </p:txBody>
      </p:sp>
      <p:sp>
        <p:nvSpPr>
          <p:cNvPr id="2" name="text-1">
            <a:extLst xmlns:a="http://schemas.openxmlformats.org/drawingml/2006/main">
              <a:ext uri="{FF2B5EF4-FFF2-40B4-BE49-F238E27FC236}">
                <a16:creationId xmlns:a16="http://schemas.microsoft.com/office/drawing/2014/main" id="{4500B24D-7AF1-49CC-8C31-EA46AA70F8CA}"/>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SFT pilot · 160 factoid development questions</a:t>
            </a:r>
          </a:p>
        </p:txBody>
      </p:sp>
      <p:sp>
        <p:nvSpPr>
          <p:cNvPr id="3" name="text-2">
            <a:extLst xmlns:a="http://schemas.openxmlformats.org/drawingml/2006/main">
              <a:ext uri="{FF2B5EF4-FFF2-40B4-BE49-F238E27FC236}">
                <a16:creationId xmlns:a16="http://schemas.microsoft.com/office/drawing/2014/main" id="{B35E920D-C211-4064-9F4B-224FE036AAC2}"/>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4</a:t>
            </a:r>
          </a:p>
        </p:txBody>
      </p:sp>
      <p:graphicFrame>
        <p:nvGraphicFramePr>
          <p:cNvPr id="16" name="Chart"/>
          <p:cNvGraphicFramePr/>
          <p:nvPr/>
        </p:nvGraphicFramePr>
        <p:xfrm>
          <a:off xmlns:a="http://schemas.openxmlformats.org/drawingml/2006/main" x="609600" y="2019300"/>
          <a:ext xmlns:a="http://schemas.openxmlformats.org/drawingml/2006/main" cx="6667500" cy="3695700"/>
        </p:xfrm>
        <a:graphic xmlns:a="http://schemas.openxmlformats.org/drawingml/2006/main">
          <a:graphicData uri="http://schemas.openxmlformats.org/drawingml/2006/chart">
            <c:chart xmlns:r="http://schemas.openxmlformats.org/officeDocument/2006/relationships" xmlns:c="http://schemas.openxmlformats.org/drawingml/2006/chart" r:id="Rd145b44520e7455a"/>
          </a:graphicData>
        </a:graphic>
      </p:graphicFrame>
      <p:sp>
        <p:nvSpPr>
          <p:cNvPr id="5" name="text-3">
            <a:extLst xmlns:a="http://schemas.openxmlformats.org/drawingml/2006/main">
              <a:ext uri="{FF2B5EF4-FFF2-40B4-BE49-F238E27FC236}">
                <a16:creationId xmlns:a16="http://schemas.microsoft.com/office/drawing/2014/main" id="{DB2A4581-B9DE-42A2-8317-BEC660F565E0}"/>
              </a:ext>
            </a:extLst>
          </p:cNvPr>
          <p:cNvSpPr>
            <a:spLocks xmlns:a="http://schemas.openxmlformats.org/drawingml/2006/main" noGrp="1"/>
          </p:cNvSpPr>
          <p:nvPr/>
        </p:nvSpPr>
        <p:spPr>
          <a:xfrm xmlns:a="http://schemas.openxmlformats.org/drawingml/2006/main">
            <a:off x="7772400" y="2095500"/>
            <a:ext cx="371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32C40"/>
                </a:solidFill>
                <a:latin typeface="Arial"/>
                <a:ea typeface="Arial"/>
                <a:cs typeface="Arial"/>
              </a:defRPr>
            </a:pPr>
            <a:r>
              <a:rPr sz="2400" b="1">
                <a:solidFill>
                  <a:srgbClr val="132C40"/>
                </a:solidFill>
                <a:latin typeface="Arial"/>
                <a:ea typeface="Arial"/>
                <a:cs typeface="Arial"/>
              </a:rPr>
              <a:t>Same concept,</a:t>
            </a:r>
          </a:p>
          <a:p xmlns:a="http://schemas.openxmlformats.org/drawingml/2006/main">
            <a:pPr algn="l">
              <a:lnSpc>
                <a:spcPct val="112000"/>
              </a:lnSpc>
              <a:buNone/>
              <a:defRPr sz="2400" b="1">
                <a:solidFill>
                  <a:srgbClr val="132C40"/>
                </a:solidFill>
                <a:latin typeface="Arial"/>
                <a:ea typeface="Arial"/>
                <a:cs typeface="Arial"/>
              </a:defRPr>
            </a:pPr>
            <a:r>
              <a:rPr sz="2400" b="1">
                <a:solidFill>
                  <a:srgbClr val="132C40"/>
                </a:solidFill>
                <a:latin typeface="Arial"/>
                <a:ea typeface="Arial"/>
                <a:cs typeface="Arial"/>
              </a:rPr>
              <a:t>different expression</a:t>
            </a:r>
          </a:p>
        </p:txBody>
      </p:sp>
      <p:sp>
        <p:nvSpPr>
          <p:cNvPr id="6" name="text-4">
            <a:extLst xmlns:a="http://schemas.openxmlformats.org/drawingml/2006/main">
              <a:ext uri="{FF2B5EF4-FFF2-40B4-BE49-F238E27FC236}">
                <a16:creationId xmlns:a16="http://schemas.microsoft.com/office/drawing/2014/main" id="{8A751925-7ACB-4101-983C-491060A52F21}"/>
              </a:ext>
            </a:extLst>
          </p:cNvPr>
          <p:cNvSpPr>
            <a:spLocks xmlns:a="http://schemas.openxmlformats.org/drawingml/2006/main" noGrp="1"/>
          </p:cNvSpPr>
          <p:nvPr/>
        </p:nvSpPr>
        <p:spPr>
          <a:xfrm xmlns:a="http://schemas.openxmlformats.org/drawingml/2006/main">
            <a:off x="7772400" y="32575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Model response</a:t>
            </a:r>
          </a:p>
        </p:txBody>
      </p:sp>
      <p:sp>
        <p:nvSpPr>
          <p:cNvPr id="7" name="text-5">
            <a:extLst xmlns:a="http://schemas.openxmlformats.org/drawingml/2006/main">
              <a:ext uri="{FF2B5EF4-FFF2-40B4-BE49-F238E27FC236}">
                <a16:creationId xmlns:a16="http://schemas.microsoft.com/office/drawing/2014/main" id="{D07BB781-A096-4169-8895-737F15C51852}"/>
              </a:ext>
            </a:extLst>
          </p:cNvPr>
          <p:cNvSpPr>
            <a:spLocks xmlns:a="http://schemas.openxmlformats.org/drawingml/2006/main" noGrp="1"/>
          </p:cNvSpPr>
          <p:nvPr/>
        </p:nvSpPr>
        <p:spPr>
          <a:xfrm xmlns:a="http://schemas.openxmlformats.org/drawingml/2006/main">
            <a:off x="7772400" y="3648075"/>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32C40"/>
                </a:solidFill>
                <a:latin typeface="Arial"/>
                <a:ea typeface="Arial"/>
                <a:cs typeface="Arial"/>
              </a:defRPr>
            </a:pPr>
            <a:r>
              <a:rPr sz="2325" b="0">
                <a:solidFill>
                  <a:srgbClr val="132C40"/>
                </a:solidFill>
                <a:latin typeface="Arial"/>
                <a:ea typeface="Arial"/>
                <a:cs typeface="Arial"/>
              </a:rPr>
              <a:t>epidermal growth factor receptor</a:t>
            </a:r>
          </a:p>
        </p:txBody>
      </p:sp>
      <p:sp>
        <p:nvSpPr>
          <p:cNvPr id="8" name="text-6">
            <a:extLst xmlns:a="http://schemas.openxmlformats.org/drawingml/2006/main">
              <a:ext uri="{FF2B5EF4-FFF2-40B4-BE49-F238E27FC236}">
                <a16:creationId xmlns:a16="http://schemas.microsoft.com/office/drawing/2014/main" id="{A08DBA14-9713-4991-9A2F-6C696518EC89}"/>
              </a:ext>
            </a:extLst>
          </p:cNvPr>
          <p:cNvSpPr>
            <a:spLocks xmlns:a="http://schemas.openxmlformats.org/drawingml/2006/main" noGrp="1"/>
          </p:cNvSpPr>
          <p:nvPr/>
        </p:nvSpPr>
        <p:spPr>
          <a:xfrm xmlns:a="http://schemas.openxmlformats.org/drawingml/2006/main">
            <a:off x="7772400" y="45624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Accepted alias</a:t>
            </a:r>
          </a:p>
        </p:txBody>
      </p:sp>
      <p:sp>
        <p:nvSpPr>
          <p:cNvPr id="9" name="text-7">
            <a:extLst xmlns:a="http://schemas.openxmlformats.org/drawingml/2006/main">
              <a:ext uri="{FF2B5EF4-FFF2-40B4-BE49-F238E27FC236}">
                <a16:creationId xmlns:a16="http://schemas.microsoft.com/office/drawing/2014/main" id="{D2230897-1DF0-4671-A4D3-6F99486F6C69}"/>
              </a:ext>
            </a:extLst>
          </p:cNvPr>
          <p:cNvSpPr>
            <a:spLocks xmlns:a="http://schemas.openxmlformats.org/drawingml/2006/main" noGrp="1"/>
          </p:cNvSpPr>
          <p:nvPr/>
        </p:nvSpPr>
        <p:spPr>
          <a:xfrm xmlns:a="http://schemas.openxmlformats.org/drawingml/2006/main">
            <a:off x="7772400" y="495300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C"/>
                </a:solidFill>
                <a:latin typeface="Arial"/>
                <a:ea typeface="Arial"/>
                <a:cs typeface="Arial"/>
              </a:defRPr>
            </a:pPr>
            <a:r>
              <a:rPr sz="2325" b="1">
                <a:solidFill>
                  <a:srgbClr val="087F8C"/>
                </a:solidFill>
                <a:latin typeface="Arial"/>
                <a:ea typeface="Arial"/>
                <a:cs typeface="Arial"/>
              </a:rPr>
              <a:t>Epidermal growth factor receptor (EGFR)</a:t>
            </a:r>
          </a:p>
        </p:txBody>
      </p:sp>
      <p:sp>
        <p:nvSpPr>
          <p:cNvPr id="10" name="text-8">
            <a:extLst xmlns:a="http://schemas.openxmlformats.org/drawingml/2006/main">
              <a:ext uri="{FF2B5EF4-FFF2-40B4-BE49-F238E27FC236}">
                <a16:creationId xmlns:a16="http://schemas.microsoft.com/office/drawing/2014/main" id="{61BF3E13-2BAE-4730-95B6-C78D89B7C272}"/>
              </a:ext>
            </a:extLst>
          </p:cNvPr>
          <p:cNvSpPr>
            <a:spLocks xmlns:a="http://schemas.openxmlformats.org/drawingml/2006/main" noGrp="1"/>
          </p:cNvSpPr>
          <p:nvPr/>
        </p:nvSpPr>
        <p:spPr>
          <a:xfrm xmlns:a="http://schemas.openxmlformats.org/drawingml/2006/main">
            <a:off x="685800" y="60483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46875"/>
                </a:solidFill>
                <a:latin typeface="Arial"/>
                <a:ea typeface="Arial"/>
                <a:cs typeface="Arial"/>
              </a:defRPr>
            </a:pPr>
            <a:r>
              <a:rPr sz="1800" b="0">
                <a:solidFill>
                  <a:srgbClr val="546875"/>
                </a:solidFill>
                <a:latin typeface="Arial"/>
                <a:ea typeface="Arial"/>
                <a:cs typeface="Arial"/>
              </a:rPr>
              <a:t>Semantic scores use an LLM judge; human auditing is planned.</a:t>
            </a:r>
          </a:p>
        </p:txBody>
      </p:sp>
    </p:spTree>
    <p:extLst>
      <p:ext uri="{BB962C8B-B14F-4D97-AF65-F5344CB8AC3E}">
        <p14:creationId xmlns:p14="http://schemas.microsoft.com/office/powerpoint/2010/main" val="1235086286"/>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72F14AA-7B8B-48F8-98AE-5099B0336478}"/>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smaller model adds complementary answers</a:t>
            </a:r>
          </a:p>
        </p:txBody>
      </p:sp>
      <p:sp>
        <p:nvSpPr>
          <p:cNvPr id="2" name="text-1">
            <a:extLst xmlns:a="http://schemas.openxmlformats.org/drawingml/2006/main">
              <a:ext uri="{FF2B5EF4-FFF2-40B4-BE49-F238E27FC236}">
                <a16:creationId xmlns:a16="http://schemas.microsoft.com/office/drawing/2014/main" id="{1D0F197B-DE94-492B-9623-A17F35158DA3}"/>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SFT pilot · official exact correctness on the same 160 questions</a:t>
            </a:r>
          </a:p>
        </p:txBody>
      </p:sp>
      <p:sp>
        <p:nvSpPr>
          <p:cNvPr id="3" name="text-2">
            <a:extLst xmlns:a="http://schemas.openxmlformats.org/drawingml/2006/main">
              <a:ext uri="{FF2B5EF4-FFF2-40B4-BE49-F238E27FC236}">
                <a16:creationId xmlns:a16="http://schemas.microsoft.com/office/drawing/2014/main" id="{381D86BC-EFB4-4292-A63D-3F909F0C0C98}"/>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5</a:t>
            </a:r>
          </a:p>
        </p:txBody>
      </p:sp>
      <p:graphicFrame>
        <p:nvGraphicFramePr>
          <p:cNvPr id="14" name="Chart"/>
          <p:cNvGraphicFramePr/>
          <p:nvPr/>
        </p:nvGraphicFramePr>
        <p:xfrm>
          <a:off xmlns:a="http://schemas.openxmlformats.org/drawingml/2006/main" x="685800" y="1971675"/>
          <a:ext xmlns:a="http://schemas.openxmlformats.org/drawingml/2006/main" cx="7048500" cy="3209925"/>
        </p:xfrm>
        <a:graphic xmlns:a="http://schemas.openxmlformats.org/drawingml/2006/main">
          <a:graphicData uri="http://schemas.openxmlformats.org/drawingml/2006/chart">
            <c:chart xmlns:r="http://schemas.openxmlformats.org/officeDocument/2006/relationships" xmlns:c="http://schemas.openxmlformats.org/drawingml/2006/chart" r:id="Rfd1cde0a3c634005"/>
          </a:graphicData>
        </a:graphic>
      </p:graphicFrame>
      <p:sp>
        <p:nvSpPr>
          <p:cNvPr id="5" name="text-3">
            <a:extLst xmlns:a="http://schemas.openxmlformats.org/drawingml/2006/main">
              <a:ext uri="{FF2B5EF4-FFF2-40B4-BE49-F238E27FC236}">
                <a16:creationId xmlns:a16="http://schemas.microsoft.com/office/drawing/2014/main" id="{3D8F5A47-7833-4856-9C44-F646BD622359}"/>
              </a:ext>
            </a:extLst>
          </p:cNvPr>
          <p:cNvSpPr>
            <a:spLocks xmlns:a="http://schemas.openxmlformats.org/drawingml/2006/main" noGrp="1"/>
          </p:cNvSpPr>
          <p:nvPr/>
        </p:nvSpPr>
        <p:spPr>
          <a:xfrm xmlns:a="http://schemas.openxmlformats.org/drawingml/2006/main">
            <a:off x="8572500" y="2190750"/>
            <a:ext cx="228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600" b="1">
                <a:solidFill>
                  <a:srgbClr val="087F8C"/>
                </a:solidFill>
                <a:latin typeface="Arial"/>
                <a:ea typeface="Arial"/>
                <a:cs typeface="Arial"/>
              </a:defRPr>
            </a:pPr>
            <a:r>
              <a:rPr sz="6600" b="1">
                <a:solidFill>
                  <a:srgbClr val="087F8C"/>
                </a:solidFill>
                <a:latin typeface="Arial"/>
                <a:ea typeface="Arial"/>
                <a:cs typeface="Arial"/>
              </a:rPr>
              <a:t>14</a:t>
            </a:r>
          </a:p>
        </p:txBody>
      </p:sp>
      <p:sp>
        <p:nvSpPr>
          <p:cNvPr id="6" name="text-4">
            <a:extLst xmlns:a="http://schemas.openxmlformats.org/drawingml/2006/main">
              <a:ext uri="{FF2B5EF4-FFF2-40B4-BE49-F238E27FC236}">
                <a16:creationId xmlns:a16="http://schemas.microsoft.com/office/drawing/2014/main" id="{B31B9A57-C7E0-4BE6-B794-6C235E9D2B66}"/>
              </a:ext>
            </a:extLst>
          </p:cNvPr>
          <p:cNvSpPr>
            <a:spLocks xmlns:a="http://schemas.openxmlformats.org/drawingml/2006/main" noGrp="1"/>
          </p:cNvSpPr>
          <p:nvPr/>
        </p:nvSpPr>
        <p:spPr>
          <a:xfrm xmlns:a="http://schemas.openxmlformats.org/drawingml/2006/main">
            <a:off x="8572500" y="334327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questions correct only</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for the 0.5B model</a:t>
            </a:r>
          </a:p>
        </p:txBody>
      </p:sp>
      <p:sp>
        <p:nvSpPr>
          <p:cNvPr id="7" name="text-5">
            <a:extLst xmlns:a="http://schemas.openxmlformats.org/drawingml/2006/main">
              <a:ext uri="{FF2B5EF4-FFF2-40B4-BE49-F238E27FC236}">
                <a16:creationId xmlns:a16="http://schemas.microsoft.com/office/drawing/2014/main" id="{20700AD2-F389-4580-BE01-0F909A9BF2A0}"/>
              </a:ext>
            </a:extLst>
          </p:cNvPr>
          <p:cNvSpPr>
            <a:spLocks xmlns:a="http://schemas.openxmlformats.org/drawingml/2006/main" noGrp="1"/>
          </p:cNvSpPr>
          <p:nvPr/>
        </p:nvSpPr>
        <p:spPr>
          <a:xfrm xmlns:a="http://schemas.openxmlformats.org/drawingml/2006/main">
            <a:off x="685800" y="54102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Example: Which enzyme is deficient in Krabbe disease?</a:t>
            </a:r>
          </a:p>
        </p:txBody>
      </p:sp>
      <p:sp>
        <p:nvSpPr>
          <p:cNvPr id="8" name="text-6">
            <a:extLst xmlns:a="http://schemas.openxmlformats.org/drawingml/2006/main">
              <a:ext uri="{FF2B5EF4-FFF2-40B4-BE49-F238E27FC236}">
                <a16:creationId xmlns:a16="http://schemas.microsoft.com/office/drawing/2014/main" id="{38B1308B-D033-4837-A022-643E7ECFD628}"/>
              </a:ext>
            </a:extLst>
          </p:cNvPr>
          <p:cNvSpPr>
            <a:spLocks xmlns:a="http://schemas.openxmlformats.org/drawingml/2006/main" noGrp="1"/>
          </p:cNvSpPr>
          <p:nvPr/>
        </p:nvSpPr>
        <p:spPr>
          <a:xfrm xmlns:a="http://schemas.openxmlformats.org/drawingml/2006/main">
            <a:off x="685800" y="59055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46875"/>
                </a:solidFill>
                <a:latin typeface="Arial"/>
                <a:ea typeface="Arial"/>
                <a:cs typeface="Arial"/>
              </a:defRPr>
            </a:pPr>
            <a:r>
              <a:rPr sz="1950" b="0">
                <a:solidFill>
                  <a:srgbClr val="546875"/>
                </a:solidFill>
                <a:latin typeface="Arial"/>
                <a:ea typeface="Arial"/>
                <a:cs typeface="Arial"/>
              </a:rPr>
              <a:t>0.5B: galactocerebrosidase   |   3B: beta-galactosidase</a:t>
            </a:r>
          </a:p>
        </p:txBody>
      </p:sp>
    </p:spTree>
    <p:extLst>
      <p:ext uri="{BB962C8B-B14F-4D97-AF65-F5344CB8AC3E}">
        <p14:creationId xmlns:p14="http://schemas.microsoft.com/office/powerpoint/2010/main" val="1815724944"/>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545A080-F177-4EDD-9B7A-06AB4C09449F}"/>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Inference strategies for factoid answering</a:t>
            </a:r>
          </a:p>
        </p:txBody>
      </p:sp>
      <p:sp>
        <p:nvSpPr>
          <p:cNvPr id="2" name="text-1">
            <a:extLst xmlns:a="http://schemas.openxmlformats.org/drawingml/2006/main">
              <a:ext uri="{FF2B5EF4-FFF2-40B4-BE49-F238E27FC236}">
                <a16:creationId xmlns:a16="http://schemas.microsoft.com/office/drawing/2014/main" id="{37017CE1-C912-4500-B9C2-F8B111CDF67A}"/>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Training method and inference strategy are separate experimental choices</a:t>
            </a:r>
          </a:p>
        </p:txBody>
      </p:sp>
      <p:sp>
        <p:nvSpPr>
          <p:cNvPr id="3" name="text-2">
            <a:extLst xmlns:a="http://schemas.openxmlformats.org/drawingml/2006/main">
              <a:ext uri="{FF2B5EF4-FFF2-40B4-BE49-F238E27FC236}">
                <a16:creationId xmlns:a16="http://schemas.microsoft.com/office/drawing/2014/main" id="{8DCF34DE-5003-4A07-AB13-41C153A12D31}"/>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6</a:t>
            </a:r>
          </a:p>
        </p:txBody>
      </p:sp>
      <p:sp>
        <p:nvSpPr>
          <p:cNvPr id="4" name="text-3">
            <a:extLst xmlns:a="http://schemas.openxmlformats.org/drawingml/2006/main">
              <a:ext uri="{FF2B5EF4-FFF2-40B4-BE49-F238E27FC236}">
                <a16:creationId xmlns:a16="http://schemas.microsoft.com/office/drawing/2014/main" id="{A34C7874-CDAC-4B7B-955F-8C67283105E3}"/>
              </a:ext>
            </a:extLst>
          </p:cNvPr>
          <p:cNvSpPr>
            <a:spLocks xmlns:a="http://schemas.openxmlformats.org/drawingml/2006/main" noGrp="1"/>
          </p:cNvSpPr>
          <p:nvPr/>
        </p:nvSpPr>
        <p:spPr>
          <a:xfrm xmlns:a="http://schemas.openxmlformats.org/drawingml/2006/main">
            <a:off x="685800" y="21145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Single output</a:t>
            </a:r>
          </a:p>
        </p:txBody>
      </p:sp>
      <p:sp>
        <p:nvSpPr>
          <p:cNvPr id="5" name="text-4">
            <a:extLst xmlns:a="http://schemas.openxmlformats.org/drawingml/2006/main">
              <a:ext uri="{FF2B5EF4-FFF2-40B4-BE49-F238E27FC236}">
                <a16:creationId xmlns:a16="http://schemas.microsoft.com/office/drawing/2014/main" id="{E204F436-2A86-42C6-8338-366DC773EDDD}"/>
              </a:ext>
            </a:extLst>
          </p:cNvPr>
          <p:cNvSpPr>
            <a:spLocks xmlns:a="http://schemas.openxmlformats.org/drawingml/2006/main" noGrp="1"/>
          </p:cNvSpPr>
          <p:nvPr/>
        </p:nvSpPr>
        <p:spPr>
          <a:xfrm xmlns:a="http://schemas.openxmlformats.org/drawingml/2006/main">
            <a:off x="5191125" y="2133600"/>
            <a:ext cx="6315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One generated answer</a:t>
            </a:r>
          </a:p>
        </p:txBody>
      </p:sp>
      <p:sp>
        <p:nvSpPr>
          <p:cNvPr id="6" name="text-5">
            <a:extLst xmlns:a="http://schemas.openxmlformats.org/drawingml/2006/main">
              <a:ext uri="{FF2B5EF4-FFF2-40B4-BE49-F238E27FC236}">
                <a16:creationId xmlns:a16="http://schemas.microsoft.com/office/drawing/2014/main" id="{40100D43-E44B-48DE-AF2D-C15A2A86FF9F}"/>
              </a:ext>
            </a:extLst>
          </p:cNvPr>
          <p:cNvSpPr>
            <a:spLocks xmlns:a="http://schemas.openxmlformats.org/drawingml/2006/main" noGrp="1"/>
          </p:cNvSpPr>
          <p:nvPr/>
        </p:nvSpPr>
        <p:spPr>
          <a:xfrm xmlns:a="http://schemas.openxmlformats.org/drawingml/2006/main">
            <a:off x="685800" y="29908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Repeated sampling</a:t>
            </a:r>
          </a:p>
        </p:txBody>
      </p:sp>
      <p:sp>
        <p:nvSpPr>
          <p:cNvPr id="7" name="text-6">
            <a:extLst xmlns:a="http://schemas.openxmlformats.org/drawingml/2006/main">
              <a:ext uri="{FF2B5EF4-FFF2-40B4-BE49-F238E27FC236}">
                <a16:creationId xmlns:a16="http://schemas.microsoft.com/office/drawing/2014/main" id="{F644D418-EAFF-491A-AC0E-0DB0700AE4A9}"/>
              </a:ext>
            </a:extLst>
          </p:cNvPr>
          <p:cNvSpPr>
            <a:spLocks xmlns:a="http://schemas.openxmlformats.org/drawingml/2006/main" noGrp="1"/>
          </p:cNvSpPr>
          <p:nvPr/>
        </p:nvSpPr>
        <p:spPr>
          <a:xfrm xmlns:a="http://schemas.openxmlformats.org/drawingml/2006/main">
            <a:off x="5191125" y="3009900"/>
            <a:ext cx="631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Several independently generated answers</a:t>
            </a:r>
          </a:p>
        </p:txBody>
      </p:sp>
      <p:sp>
        <p:nvSpPr>
          <p:cNvPr id="8" name="text-7">
            <a:extLst xmlns:a="http://schemas.openxmlformats.org/drawingml/2006/main">
              <a:ext uri="{FF2B5EF4-FFF2-40B4-BE49-F238E27FC236}">
                <a16:creationId xmlns:a16="http://schemas.microsoft.com/office/drawing/2014/main" id="{60BEF6B9-50D0-441B-82B3-846FF8C2CB5A}"/>
              </a:ext>
            </a:extLst>
          </p:cNvPr>
          <p:cNvSpPr>
            <a:spLocks xmlns:a="http://schemas.openxmlformats.org/drawingml/2006/main" noGrp="1"/>
          </p:cNvSpPr>
          <p:nvPr/>
        </p:nvSpPr>
        <p:spPr>
          <a:xfrm xmlns:a="http://schemas.openxmlformats.org/drawingml/2006/main">
            <a:off x="685800" y="58293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Candidate strategies share a final validation and ranking step.</a:t>
            </a:r>
          </a:p>
        </p:txBody>
      </p:sp>
      <p:sp>
        <p:nvSpPr>
          <p:cNvPr id="10" name="inference-Answer expansion">
            <a:extLst xmlns:a="http://schemas.openxmlformats.org/drawingml/2006/main">
              <a:ext uri="{FF2B5EF4-FFF2-40B4-BE49-F238E27FC236}">
                <a16:creationId xmlns:a16="http://schemas.microsoft.com/office/drawing/2014/main" id="{25949644-4D7F-489F-8831-66B76FD8D349}"/>
              </a:ext>
            </a:extLst>
          </p:cNvPr>
          <p:cNvSpPr>
            <a:spLocks xmlns:a="http://schemas.openxmlformats.org/drawingml/2006/main" noGrp="1"/>
          </p:cNvSpPr>
          <p:nvPr/>
        </p:nvSpPr>
        <p:spPr>
          <a:xfrm xmlns:a="http://schemas.openxmlformats.org/drawingml/2006/main">
            <a:off x="685800" y="38671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087F8C"/>
                </a:solidFill>
                <a:latin typeface="Arial"/>
                <a:ea typeface="Arial"/>
                <a:cs typeface="Arial"/>
              </a:defRPr>
            </a:pPr>
            <a:r>
              <a:rPr sz="2475" b="1">
                <a:solidFill>
                  <a:srgbClr val="087F8C"/>
                </a:solidFill>
                <a:latin typeface="Arial"/>
                <a:ea typeface="Arial"/>
                <a:cs typeface="Arial"/>
              </a:rPr>
              <a:t>Answer expansion</a:t>
            </a:r>
          </a:p>
        </p:txBody>
      </p:sp>
      <p:sp>
        <p:nvSpPr>
          <p:cNvPr id="11" name="inference-Evidence-support">
            <a:extLst xmlns:a="http://schemas.openxmlformats.org/drawingml/2006/main">
              <a:ext uri="{FF2B5EF4-FFF2-40B4-BE49-F238E27FC236}">
                <a16:creationId xmlns:a16="http://schemas.microsoft.com/office/drawing/2014/main" id="{0A619BBC-BD9D-4874-88CC-84276893BD66}"/>
              </a:ext>
            </a:extLst>
          </p:cNvPr>
          <p:cNvSpPr>
            <a:spLocks xmlns:a="http://schemas.openxmlformats.org/drawingml/2006/main" noGrp="1"/>
          </p:cNvSpPr>
          <p:nvPr/>
        </p:nvSpPr>
        <p:spPr>
          <a:xfrm xmlns:a="http://schemas.openxmlformats.org/drawingml/2006/main">
            <a:off x="5191125" y="3886200"/>
            <a:ext cx="631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Evidence-supported answer alternatives</a:t>
            </a:r>
          </a:p>
        </p:txBody>
      </p:sp>
      <p:sp>
        <p:nvSpPr>
          <p:cNvPr id="12" name="inference-Multi-model pool">
            <a:extLst xmlns:a="http://schemas.openxmlformats.org/drawingml/2006/main">
              <a:ext uri="{FF2B5EF4-FFF2-40B4-BE49-F238E27FC236}">
                <a16:creationId xmlns:a16="http://schemas.microsoft.com/office/drawing/2014/main" id="{A39199EA-2E89-483C-B29F-E68F495A8E84}"/>
              </a:ext>
            </a:extLst>
          </p:cNvPr>
          <p:cNvSpPr>
            <a:spLocks xmlns:a="http://schemas.openxmlformats.org/drawingml/2006/main" noGrp="1"/>
          </p:cNvSpPr>
          <p:nvPr/>
        </p:nvSpPr>
        <p:spPr>
          <a:xfrm xmlns:a="http://schemas.openxmlformats.org/drawingml/2006/main">
            <a:off x="685800" y="47434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087F8C"/>
                </a:solidFill>
                <a:latin typeface="Arial"/>
                <a:ea typeface="Arial"/>
                <a:cs typeface="Arial"/>
              </a:defRPr>
            </a:pPr>
            <a:r>
              <a:rPr sz="2475" b="1">
                <a:solidFill>
                  <a:srgbClr val="087F8C"/>
                </a:solidFill>
                <a:latin typeface="Arial"/>
                <a:ea typeface="Arial"/>
                <a:cs typeface="Arial"/>
              </a:rPr>
              <a:t>Multi-model pooling</a:t>
            </a:r>
          </a:p>
        </p:txBody>
      </p:sp>
      <p:sp>
        <p:nvSpPr>
          <p:cNvPr id="13" name="inference-Candidates from ">
            <a:extLst xmlns:a="http://schemas.openxmlformats.org/drawingml/2006/main">
              <a:ext uri="{FF2B5EF4-FFF2-40B4-BE49-F238E27FC236}">
                <a16:creationId xmlns:a16="http://schemas.microsoft.com/office/drawing/2014/main" id="{37DD2407-AB80-438F-900C-C60F9F8120D4}"/>
              </a:ext>
            </a:extLst>
          </p:cNvPr>
          <p:cNvSpPr>
            <a:spLocks xmlns:a="http://schemas.openxmlformats.org/drawingml/2006/main" noGrp="1"/>
          </p:cNvSpPr>
          <p:nvPr/>
        </p:nvSpPr>
        <p:spPr>
          <a:xfrm xmlns:a="http://schemas.openxmlformats.org/drawingml/2006/main">
            <a:off x="5191125" y="4762500"/>
            <a:ext cx="631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Candidates from different generators</a:t>
            </a:r>
          </a:p>
        </p:txBody>
      </p:sp>
      <p:sp>
        <p:nvSpPr>
          <p:cNvPr id="14" name="inference-Gold answers sta">
            <a:extLst xmlns:a="http://schemas.openxmlformats.org/drawingml/2006/main">
              <a:ext uri="{FF2B5EF4-FFF2-40B4-BE49-F238E27FC236}">
                <a16:creationId xmlns:a16="http://schemas.microsoft.com/office/drawing/2014/main" id="{A104A0A5-51BC-48D5-BBF0-6DF267FB9375}"/>
              </a:ext>
            </a:extLst>
          </p:cNvPr>
          <p:cNvSpPr>
            <a:spLocks xmlns:a="http://schemas.openxmlformats.org/drawingml/2006/main" noGrp="1"/>
          </p:cNvSpPr>
          <p:nvPr/>
        </p:nvSpPr>
        <p:spPr>
          <a:xfrm xmlns:a="http://schemas.openxmlformats.org/drawingml/2006/main">
            <a:off x="6858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Gold answers stay out of inference prompts.</a:t>
            </a:r>
          </a:p>
        </p:txBody>
      </p:sp>
    </p:spTree>
    <p:extLst>
      <p:ext uri="{BB962C8B-B14F-4D97-AF65-F5344CB8AC3E}">
        <p14:creationId xmlns:p14="http://schemas.microsoft.com/office/powerpoint/2010/main" val="1713459846"/>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713DDF2-2AF0-4341-8EA3-409DA19069B1}"/>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Pooling increases pilot candidate coverage</a:t>
            </a:r>
          </a:p>
        </p:txBody>
      </p:sp>
      <p:sp>
        <p:nvSpPr>
          <p:cNvPr id="2" name="text-1">
            <a:extLst xmlns:a="http://schemas.openxmlformats.org/drawingml/2006/main">
              <a:ext uri="{FF2B5EF4-FFF2-40B4-BE49-F238E27FC236}">
                <a16:creationId xmlns:a16="http://schemas.microsoft.com/office/drawing/2014/main" id="{079A2EF7-D3C1-4D27-B200-D3F1DA16BF6C}"/>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expansion pilot · no additional BioASQ-specific SFT or DPO</a:t>
            </a:r>
          </a:p>
        </p:txBody>
      </p:sp>
      <p:sp>
        <p:nvSpPr>
          <p:cNvPr id="3" name="text-2">
            <a:extLst xmlns:a="http://schemas.openxmlformats.org/drawingml/2006/main">
              <a:ext uri="{FF2B5EF4-FFF2-40B4-BE49-F238E27FC236}">
                <a16:creationId xmlns:a16="http://schemas.microsoft.com/office/drawing/2014/main" id="{90087A53-4783-4F2D-B407-36282EA4A35F}"/>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7</a:t>
            </a:r>
          </a:p>
        </p:txBody>
      </p:sp>
      <p:graphicFrame>
        <p:nvGraphicFramePr>
          <p:cNvPr id="13" name="Chart"/>
          <p:cNvGraphicFramePr/>
          <p:nvPr/>
        </p:nvGraphicFramePr>
        <p:xfrm>
          <a:off xmlns:a="http://schemas.openxmlformats.org/drawingml/2006/main" x="619125" y="2019300"/>
          <a:ext xmlns:a="http://schemas.openxmlformats.org/drawingml/2006/main" cx="7429500" cy="3733800"/>
        </p:xfrm>
        <a:graphic xmlns:a="http://schemas.openxmlformats.org/drawingml/2006/main">
          <a:graphicData uri="http://schemas.openxmlformats.org/drawingml/2006/chart">
            <c:chart xmlns:r="http://schemas.openxmlformats.org/officeDocument/2006/relationships" xmlns:c="http://schemas.openxmlformats.org/drawingml/2006/chart" r:id="R11d7da33d8964a4e"/>
          </a:graphicData>
        </a:graphic>
      </p:graphicFrame>
      <p:sp>
        <p:nvSpPr>
          <p:cNvPr id="5" name="text-3">
            <a:extLst xmlns:a="http://schemas.openxmlformats.org/drawingml/2006/main">
              <a:ext uri="{FF2B5EF4-FFF2-40B4-BE49-F238E27FC236}">
                <a16:creationId xmlns:a16="http://schemas.microsoft.com/office/drawing/2014/main" id="{9E555661-4C50-49AE-889D-2F8833859C45}"/>
              </a:ext>
            </a:extLst>
          </p:cNvPr>
          <p:cNvSpPr>
            <a:spLocks xmlns:a="http://schemas.openxmlformats.org/drawingml/2006/main" noGrp="1"/>
          </p:cNvSpPr>
          <p:nvPr/>
        </p:nvSpPr>
        <p:spPr>
          <a:xfrm xmlns:a="http://schemas.openxmlformats.org/drawingml/2006/main">
            <a:off x="8591550" y="2324100"/>
            <a:ext cx="2933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087F8C"/>
                </a:solidFill>
                <a:latin typeface="Arial"/>
                <a:ea typeface="Arial"/>
                <a:cs typeface="Arial"/>
              </a:defRPr>
            </a:pPr>
            <a:r>
              <a:rPr sz="4125" b="1">
                <a:solidFill>
                  <a:srgbClr val="087F8C"/>
                </a:solidFill>
                <a:latin typeface="Arial"/>
                <a:ea typeface="Arial"/>
                <a:cs typeface="Arial"/>
              </a:rPr>
              <a:t>102 / 160</a:t>
            </a:r>
          </a:p>
        </p:txBody>
      </p:sp>
      <p:sp>
        <p:nvSpPr>
          <p:cNvPr id="6" name="text-4">
            <a:extLst xmlns:a="http://schemas.openxmlformats.org/drawingml/2006/main">
              <a:ext uri="{FF2B5EF4-FFF2-40B4-BE49-F238E27FC236}">
                <a16:creationId xmlns:a16="http://schemas.microsoft.com/office/drawing/2014/main" id="{9E3CFEC4-9D9F-4078-B537-3A300A4EBC83}"/>
              </a:ext>
            </a:extLst>
          </p:cNvPr>
          <p:cNvSpPr>
            <a:spLocks xmlns:a="http://schemas.openxmlformats.org/drawingml/2006/main" noGrp="1"/>
          </p:cNvSpPr>
          <p:nvPr/>
        </p:nvSpPr>
        <p:spPr>
          <a:xfrm xmlns:a="http://schemas.openxmlformats.org/drawingml/2006/main">
            <a:off x="8591550" y="3448050"/>
            <a:ext cx="29146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questions with an</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accepted candidate</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in the combined pool</a:t>
            </a:r>
          </a:p>
        </p:txBody>
      </p:sp>
      <p:sp>
        <p:nvSpPr>
          <p:cNvPr id="7" name="text-5">
            <a:extLst xmlns:a="http://schemas.openxmlformats.org/drawingml/2006/main">
              <a:ext uri="{FF2B5EF4-FFF2-40B4-BE49-F238E27FC236}">
                <a16:creationId xmlns:a16="http://schemas.microsoft.com/office/drawing/2014/main" id="{45C4189D-8EB4-4E3C-9CEC-D53565A71008}"/>
              </a:ext>
            </a:extLst>
          </p:cNvPr>
          <p:cNvSpPr>
            <a:spLocks xmlns:a="http://schemas.openxmlformats.org/drawingml/2006/main" noGrp="1"/>
          </p:cNvSpPr>
          <p:nvPr/>
        </p:nvSpPr>
        <p:spPr>
          <a:xfrm xmlns:a="http://schemas.openxmlformats.org/drawingml/2006/main">
            <a:off x="685800" y="5905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Next: test whether SFT and DPO improve this inference strategy.</a:t>
            </a:r>
          </a:p>
        </p:txBody>
      </p:sp>
    </p:spTree>
    <p:extLst>
      <p:ext uri="{BB962C8B-B14F-4D97-AF65-F5344CB8AC3E}">
        <p14:creationId xmlns:p14="http://schemas.microsoft.com/office/powerpoint/2010/main" val="1602688170"/>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CBC63FE-77A9-4DD5-8C93-2F6CBDE9239A}"/>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Testing DPO within each inference strategy</a:t>
            </a:r>
          </a:p>
        </p:txBody>
      </p:sp>
      <p:sp>
        <p:nvSpPr>
          <p:cNvPr id="2" name="text-1">
            <a:extLst xmlns:a="http://schemas.openxmlformats.org/drawingml/2006/main">
              <a:ext uri="{FF2B5EF4-FFF2-40B4-BE49-F238E27FC236}">
                <a16:creationId xmlns:a16="http://schemas.microsoft.com/office/drawing/2014/main" id="{70BF7A91-7C56-471C-AE9A-74DB22E04970}"/>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Matched training comparisons within each inference configuration</a:t>
            </a:r>
          </a:p>
        </p:txBody>
      </p:sp>
      <p:sp>
        <p:nvSpPr>
          <p:cNvPr id="3" name="text-2">
            <a:extLst xmlns:a="http://schemas.openxmlformats.org/drawingml/2006/main">
              <a:ext uri="{FF2B5EF4-FFF2-40B4-BE49-F238E27FC236}">
                <a16:creationId xmlns:a16="http://schemas.microsoft.com/office/drawing/2014/main" id="{6DF719E6-83D1-40AE-BB4D-835C1FFAB91F}"/>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8</a:t>
            </a:r>
          </a:p>
        </p:txBody>
      </p:sp>
      <p:graphicFrame>
        <p:nvGraphicFramePr>
          <p:cNvPr id="12" name=""/>
          <p:cNvGraphicFramePr/>
          <p:nvPr/>
        </p:nvGraphicFramePr>
        <p:xfrm>
          <a:off xmlns:a="http://schemas.openxmlformats.org/drawingml/2006/main" x="685800" y="2095500"/>
          <a:ext xmlns:a="http://schemas.openxmlformats.org/drawingml/2006/main" cx="10820400" cy="3181350"/>
        </p:xfrm>
        <a:graphic xmlns:a="http://schemas.openxmlformats.org/drawingml/2006/main">
          <a:graphicData uri="http://schemas.openxmlformats.org/drawingml/2006/table">
            <a:tbl>
              <a:tblPr firstRow="0" bandRow="0"/>
              <a:tblGrid>
                <a:gridCol w="1428750"/>
                <a:gridCol w="4667250"/>
                <a:gridCol w="4724400"/>
              </a:tblGrid>
              <a:tr h="636270">
                <a:tc>
                  <a:txBody>
                    <a:bodyPr/>
                    <a:lstStyle/>
                    <a:p>
                      <a:r>
                        <a:rPr sz="1875" b="1">
                          <a:solidFill>
                            <a:srgbClr val="FFFFFF"/>
                          </a:solidFill>
                          <a:latin typeface="Arial"/>
                          <a:ea typeface="Arial"/>
                          <a:cs typeface="Arial"/>
                        </a:rPr>
                        <a:t>Condition</a:t>
                      </a:r>
                    </a:p>
                  </a:txBody>
                  <a:tcPr marL="133350" marR="133350" marT="114300" marB="114300">
                    <a:solidFill>
                      <a:srgbClr val="132C40"/>
                    </a:solidFill>
                  </a:tcPr>
                </a:tc>
                <a:tc>
                  <a:txBody>
                    <a:bodyPr/>
                    <a:lstStyle/>
                    <a:p>
                      <a:r>
                        <a:rPr sz="1875" b="1">
                          <a:solidFill>
                            <a:srgbClr val="FFFFFF"/>
                          </a:solidFill>
                          <a:latin typeface="Arial"/>
                          <a:ea typeface="Arial"/>
                          <a:cs typeface="Arial"/>
                        </a:rPr>
                        <a:t>Model training</a:t>
                      </a:r>
                    </a:p>
                  </a:txBody>
                  <a:tcPr marL="133350" marR="133350" marT="114300" marB="114300">
                    <a:solidFill>
                      <a:srgbClr val="132C40"/>
                    </a:solidFill>
                  </a:tcPr>
                </a:tc>
                <a:tc>
                  <a:txBody>
                    <a:bodyPr/>
                    <a:lstStyle/>
                    <a:p>
                      <a:r>
                        <a:rPr sz="1875" b="1">
                          <a:solidFill>
                            <a:srgbClr val="FFFFFF"/>
                          </a:solidFill>
                          <a:latin typeface="Arial"/>
                          <a:ea typeface="Arial"/>
                          <a:cs typeface="Arial"/>
                        </a:rPr>
                        <a:t>What it measures</a:t>
                      </a:r>
                    </a:p>
                  </a:txBody>
                  <a:tcPr marL="133350" marR="133350" marT="114300" marB="114300">
                    <a:solidFill>
                      <a:srgbClr val="132C40"/>
                    </a:solidFill>
                  </a:tcPr>
                </a:tc>
              </a:tr>
              <a:tr h="636270">
                <a:tc>
                  <a:txBody>
                    <a:bodyPr/>
                    <a:lstStyle/>
                    <a:p>
                      <a:r>
                        <a:rPr sz="2025">
                          <a:solidFill>
                            <a:srgbClr val="132C40"/>
                          </a:solidFill>
                          <a:latin typeface="Arial"/>
                          <a:ea typeface="Arial"/>
                          <a:cs typeface="Arial"/>
                        </a:rPr>
                        <a:t>A</a:t>
                      </a:r>
                    </a:p>
                  </a:txBody>
                  <a:tcPr marL="133350" marR="133350" marT="114300" marB="114300">
                    <a:solidFill>
                      <a:srgbClr val="F6F4EF"/>
                    </a:solidFill>
                  </a:tcPr>
                </a:tc>
                <a:tc>
                  <a:txBody>
                    <a:bodyPr/>
                    <a:lstStyle/>
                    <a:p>
                      <a:r>
                        <a:rPr sz="2025">
                          <a:solidFill>
                            <a:srgbClr val="132C40"/>
                          </a:solidFill>
                          <a:latin typeface="Arial"/>
                          <a:ea typeface="Arial"/>
                          <a:cs typeface="Arial"/>
                        </a:rPr>
                        <a:t>No BioASQ adaptation</a:t>
                      </a:r>
                    </a:p>
                  </a:txBody>
                  <a:tcPr marL="133350" marR="133350" marT="114300" marB="114300">
                    <a:solidFill>
                      <a:srgbClr val="F6F4EF"/>
                    </a:solidFill>
                  </a:tcPr>
                </a:tc>
                <a:tc>
                  <a:txBody>
                    <a:bodyPr/>
                    <a:lstStyle/>
                    <a:p>
                      <a:r>
                        <a:rPr sz="2025">
                          <a:solidFill>
                            <a:srgbClr val="132C40"/>
                          </a:solidFill>
                          <a:latin typeface="Arial"/>
                          <a:ea typeface="Arial"/>
                          <a:cs typeface="Arial"/>
                        </a:rPr>
                        <a:t>Inference baseline</a:t>
                      </a:r>
                    </a:p>
                  </a:txBody>
                  <a:tcPr marL="133350" marR="133350" marT="114300" marB="114300">
                    <a:solidFill>
                      <a:srgbClr val="F6F4EF"/>
                    </a:solidFill>
                  </a:tcPr>
                </a:tc>
              </a:tr>
              <a:tr h="636270">
                <a:tc>
                  <a:txBody>
                    <a:bodyPr/>
                    <a:lstStyle/>
                    <a:p>
                      <a:r>
                        <a:rPr sz="2025">
                          <a:solidFill>
                            <a:srgbClr val="132C40"/>
                          </a:solidFill>
                          <a:latin typeface="Arial"/>
                          <a:ea typeface="Arial"/>
                          <a:cs typeface="Arial"/>
                        </a:rPr>
                        <a:t>B</a:t>
                      </a:r>
                    </a:p>
                  </a:txBody>
                  <a:tcPr marL="133350" marR="133350" marT="114300" marB="114300">
                    <a:solidFill>
                      <a:srgbClr val="F6F4EF"/>
                    </a:solidFill>
                  </a:tcPr>
                </a:tc>
                <a:tc>
                  <a:txBody>
                    <a:bodyPr/>
                    <a:lstStyle/>
                    <a:p>
                      <a:r>
                        <a:rPr sz="2025">
                          <a:solidFill>
                            <a:srgbClr val="132C40"/>
                          </a:solidFill>
                          <a:latin typeface="Arial"/>
                          <a:ea typeface="Arial"/>
                          <a:cs typeface="Arial"/>
                        </a:rPr>
                        <a:t>Task-specific SFT</a:t>
                      </a:r>
                    </a:p>
                  </a:txBody>
                  <a:tcPr marL="133350" marR="133350" marT="114300" marB="114300">
                    <a:solidFill>
                      <a:srgbClr val="F6F4EF"/>
                    </a:solidFill>
                  </a:tcPr>
                </a:tc>
                <a:tc>
                  <a:txBody>
                    <a:bodyPr/>
                    <a:lstStyle/>
                    <a:p>
                      <a:r>
                        <a:rPr sz="2025">
                          <a:solidFill>
                            <a:srgbClr val="132C40"/>
                          </a:solidFill>
                          <a:latin typeface="Arial"/>
                          <a:ea typeface="Arial"/>
                          <a:cs typeface="Arial"/>
                        </a:rPr>
                        <a:t>Supervised adaptation</a:t>
                      </a:r>
                    </a:p>
                  </a:txBody>
                  <a:tcPr marL="133350" marR="133350" marT="114300" marB="114300">
                    <a:solidFill>
                      <a:srgbClr val="F6F4EF"/>
                    </a:solidFill>
                  </a:tcPr>
                </a:tc>
              </a:tr>
              <a:tr h="636270">
                <a:tc>
                  <a:txBody>
                    <a:bodyPr/>
                    <a:lstStyle/>
                    <a:p>
                      <a:r>
                        <a:rPr sz="2025" b="1">
                          <a:solidFill>
                            <a:srgbClr val="087F8C"/>
                          </a:solidFill>
                          <a:latin typeface="Arial"/>
                          <a:ea typeface="Arial"/>
                          <a:cs typeface="Arial"/>
                        </a:rPr>
                        <a:t>C</a:t>
                      </a:r>
                    </a:p>
                  </a:txBody>
                  <a:tcPr marL="133350" marR="133350" marT="114300" marB="114300">
                    <a:solidFill>
                      <a:srgbClr val="E8F3F1"/>
                    </a:solidFill>
                  </a:tcPr>
                </a:tc>
                <a:tc>
                  <a:txBody>
                    <a:bodyPr/>
                    <a:lstStyle/>
                    <a:p>
                      <a:r>
                        <a:rPr sz="2025" b="1">
                          <a:solidFill>
                            <a:srgbClr val="087F8C"/>
                          </a:solidFill>
                          <a:latin typeface="Arial"/>
                          <a:ea typeface="Arial"/>
                          <a:cs typeface="Arial"/>
                        </a:rPr>
                        <a:t>SFT + DPO</a:t>
                      </a:r>
                    </a:p>
                  </a:txBody>
                  <a:tcPr marL="133350" marR="133350" marT="114300" marB="114300">
                    <a:solidFill>
                      <a:srgbClr val="E8F3F1"/>
                    </a:solidFill>
                  </a:tcPr>
                </a:tc>
                <a:tc>
                  <a:txBody>
                    <a:bodyPr/>
                    <a:lstStyle/>
                    <a:p>
                      <a:r>
                        <a:rPr sz="2025" b="1">
                          <a:solidFill>
                            <a:srgbClr val="087F8C"/>
                          </a:solidFill>
                          <a:latin typeface="Arial"/>
                          <a:ea typeface="Arial"/>
                          <a:cs typeface="Arial"/>
                        </a:rPr>
                        <a:t>DPO beyond SFT</a:t>
                      </a:r>
                    </a:p>
                  </a:txBody>
                  <a:tcPr marL="133350" marR="133350" marT="114300" marB="114300">
                    <a:solidFill>
                      <a:srgbClr val="E8F3F1"/>
                    </a:solidFill>
                  </a:tcPr>
                </a:tc>
              </a:tr>
              <a:tr h="636270">
                <a:tc>
                  <a:txBody>
                    <a:bodyPr/>
                    <a:lstStyle/>
                    <a:p>
                      <a:r>
                        <a:rPr sz="2025">
                          <a:solidFill>
                            <a:srgbClr val="132C40"/>
                          </a:solidFill>
                          <a:latin typeface="Arial"/>
                          <a:ea typeface="Arial"/>
                          <a:cs typeface="Arial"/>
                        </a:rPr>
                        <a:t>D</a:t>
                      </a:r>
                    </a:p>
                  </a:txBody>
                  <a:tcPr marL="133350" marR="133350" marT="114300" marB="114300">
                    <a:solidFill>
                      <a:srgbClr val="F6F4EF"/>
                    </a:solidFill>
                  </a:tcPr>
                </a:tc>
                <a:tc>
                  <a:txBody>
                    <a:bodyPr/>
                    <a:lstStyle/>
                    <a:p>
                      <a:r>
                        <a:rPr sz="2025">
                          <a:solidFill>
                            <a:srgbClr val="132C40"/>
                          </a:solidFill>
                          <a:latin typeface="Arial"/>
                          <a:ea typeface="Arial"/>
                          <a:cs typeface="Arial"/>
                        </a:rPr>
                        <a:t>SFT + continued SFT</a:t>
                      </a:r>
                    </a:p>
                  </a:txBody>
                  <a:tcPr marL="133350" marR="133350" marT="114300" marB="114300">
                    <a:solidFill>
                      <a:srgbClr val="F6F4EF"/>
                    </a:solidFill>
                  </a:tcPr>
                </a:tc>
                <a:tc>
                  <a:txBody>
                    <a:bodyPr/>
                    <a:lstStyle/>
                    <a:p>
                      <a:r>
                        <a:rPr sz="2025">
                          <a:solidFill>
                            <a:srgbClr val="132C40"/>
                          </a:solidFill>
                          <a:latin typeface="Arial"/>
                          <a:ea typeface="Arial"/>
                          <a:cs typeface="Arial"/>
                        </a:rPr>
                        <a:t>Extra-training control</a:t>
                      </a:r>
                    </a:p>
                  </a:txBody>
                  <a:tcPr marL="133350" marR="133350" marT="114300" marB="114300">
                    <a:solidFill>
                      <a:srgbClr val="F6F4EF"/>
                    </a:solidFill>
                  </a:tcPr>
                </a:tc>
              </a:tr>
            </a:tbl>
          </a:graphicData>
        </a:graphic>
      </p:graphicFrame>
      <p:sp>
        <p:nvSpPr>
          <p:cNvPr id="5" name="text-3">
            <a:extLst xmlns:a="http://schemas.openxmlformats.org/drawingml/2006/main">
              <a:ext uri="{FF2B5EF4-FFF2-40B4-BE49-F238E27FC236}">
                <a16:creationId xmlns:a16="http://schemas.microsoft.com/office/drawing/2014/main" id="{8746D761-AC98-4E32-BC47-096CE3FE42E2}"/>
              </a:ext>
            </a:extLst>
          </p:cNvPr>
          <p:cNvSpPr>
            <a:spLocks xmlns:a="http://schemas.openxmlformats.org/drawingml/2006/main" noGrp="1"/>
          </p:cNvSpPr>
          <p:nvPr/>
        </p:nvSpPr>
        <p:spPr>
          <a:xfrm xmlns:a="http://schemas.openxmlformats.org/drawingml/2006/main">
            <a:off x="685800" y="55149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087F8C"/>
                </a:solidFill>
                <a:latin typeface="Arial"/>
                <a:ea typeface="Arial"/>
                <a:cs typeface="Arial"/>
              </a:defRPr>
            </a:pPr>
            <a:r>
              <a:rPr sz="2775" b="1">
                <a:solidFill>
                  <a:srgbClr val="087F8C"/>
                </a:solidFill>
                <a:latin typeface="Arial"/>
                <a:ea typeface="Arial"/>
                <a:cs typeface="Arial"/>
              </a:rPr>
              <a:t>DPO gain: C minus B, within each strategy</a:t>
            </a:r>
          </a:p>
        </p:txBody>
      </p:sp>
      <p:sp>
        <p:nvSpPr>
          <p:cNvPr id="6" name="text-4">
            <a:extLst xmlns:a="http://schemas.openxmlformats.org/drawingml/2006/main">
              <a:ext uri="{FF2B5EF4-FFF2-40B4-BE49-F238E27FC236}">
                <a16:creationId xmlns:a16="http://schemas.microsoft.com/office/drawing/2014/main" id="{169EB68B-3356-4E6D-8794-C7CFB75235BF}"/>
              </a:ext>
            </a:extLst>
          </p:cNvPr>
          <p:cNvSpPr>
            <a:spLocks xmlns:a="http://schemas.openxmlformats.org/drawingml/2006/main" noGrp="1"/>
          </p:cNvSpPr>
          <p:nvPr/>
        </p:nvSpPr>
        <p:spPr>
          <a:xfrm xmlns:a="http://schemas.openxmlformats.org/drawingml/2006/main">
            <a:off x="685800" y="6134100"/>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46875"/>
                </a:solidFill>
                <a:latin typeface="Arial"/>
                <a:ea typeface="Arial"/>
                <a:cs typeface="Arial"/>
              </a:defRPr>
            </a:pPr>
            <a:r>
              <a:rPr sz="1950" b="0">
                <a:solidFill>
                  <a:srgbClr val="546875"/>
                </a:solidFill>
                <a:latin typeface="Arial"/>
                <a:ea typeface="Arial"/>
                <a:cs typeface="Arial"/>
              </a:rPr>
              <a:t>Keep backbone, evidence, output format and inference budget matched.</a:t>
            </a:r>
          </a:p>
        </p:txBody>
      </p:sp>
    </p:spTree>
    <p:extLst>
      <p:ext uri="{BB962C8B-B14F-4D97-AF65-F5344CB8AC3E}">
        <p14:creationId xmlns:p14="http://schemas.microsoft.com/office/powerpoint/2010/main" val="1154484986"/>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EBBA82B7-397A-4079-A17E-69783F113F15}"/>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Evaluating DPO across inference strategies</a:t>
            </a:r>
          </a:p>
        </p:txBody>
      </p:sp>
      <p:sp>
        <p:nvSpPr>
          <p:cNvPr id="2" name="text-1">
            <a:extLst xmlns:a="http://schemas.openxmlformats.org/drawingml/2006/main">
              <a:ext uri="{FF2B5EF4-FFF2-40B4-BE49-F238E27FC236}">
                <a16:creationId xmlns:a16="http://schemas.microsoft.com/office/drawing/2014/main" id="{AECE5901-5B15-4F27-85F1-00AE58C819FF}"/>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Planned evaluation · official factoid MRR is the primary outcome</a:t>
            </a:r>
          </a:p>
        </p:txBody>
      </p:sp>
      <p:sp>
        <p:nvSpPr>
          <p:cNvPr id="3" name="text-2">
            <a:extLst xmlns:a="http://schemas.openxmlformats.org/drawingml/2006/main">
              <a:ext uri="{FF2B5EF4-FFF2-40B4-BE49-F238E27FC236}">
                <a16:creationId xmlns:a16="http://schemas.microsoft.com/office/drawing/2014/main" id="{34FF08E8-5C74-44C5-9160-78E638AACA56}"/>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9</a:t>
            </a:r>
          </a:p>
        </p:txBody>
      </p:sp>
      <p:sp>
        <p:nvSpPr>
          <p:cNvPr id="4" name="text-3">
            <a:extLst xmlns:a="http://schemas.openxmlformats.org/drawingml/2006/main">
              <a:ext uri="{FF2B5EF4-FFF2-40B4-BE49-F238E27FC236}">
                <a16:creationId xmlns:a16="http://schemas.microsoft.com/office/drawing/2014/main" id="{37DD0CE8-367B-4410-9666-666BE5DE7F11}"/>
              </a:ext>
            </a:extLst>
          </p:cNvPr>
          <p:cNvSpPr>
            <a:spLocks xmlns:a="http://schemas.openxmlformats.org/drawingml/2006/main" noGrp="1"/>
          </p:cNvSpPr>
          <p:nvPr/>
        </p:nvSpPr>
        <p:spPr>
          <a:xfrm xmlns:a="http://schemas.openxmlformats.org/drawingml/2006/main">
            <a:off x="685800" y="2238375"/>
            <a:ext cx="428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87F8C"/>
                </a:solidFill>
                <a:latin typeface="Arial"/>
                <a:ea typeface="Arial"/>
                <a:cs typeface="Arial"/>
              </a:defRPr>
            </a:pPr>
            <a:r>
              <a:rPr sz="2700" b="1">
                <a:solidFill>
                  <a:srgbClr val="087F8C"/>
                </a:solidFill>
                <a:latin typeface="Arial"/>
                <a:ea typeface="Arial"/>
                <a:cs typeface="Arial"/>
              </a:rPr>
              <a:t>Candidate coverage</a:t>
            </a:r>
          </a:p>
        </p:txBody>
      </p:sp>
      <p:sp>
        <p:nvSpPr>
          <p:cNvPr id="5" name="text-4">
            <a:extLst xmlns:a="http://schemas.openxmlformats.org/drawingml/2006/main">
              <a:ext uri="{FF2B5EF4-FFF2-40B4-BE49-F238E27FC236}">
                <a16:creationId xmlns:a16="http://schemas.microsoft.com/office/drawing/2014/main" id="{D4459E1E-0F20-4186-9201-6C633DBA56AD}"/>
              </a:ext>
            </a:extLst>
          </p:cNvPr>
          <p:cNvSpPr>
            <a:spLocks xmlns:a="http://schemas.openxmlformats.org/drawingml/2006/main" noGrp="1"/>
          </p:cNvSpPr>
          <p:nvPr/>
        </p:nvSpPr>
        <p:spPr>
          <a:xfrm xmlns:a="http://schemas.openxmlformats.org/drawingml/2006/main">
            <a:off x="685800" y="297180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Did the pool contain</a:t>
            </a:r>
          </a:p>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an accepted answer?</a:t>
            </a:r>
          </a:p>
        </p:txBody>
      </p:sp>
      <p:sp>
        <p:nvSpPr>
          <p:cNvPr id="6" name="text-5">
            <a:extLst xmlns:a="http://schemas.openxmlformats.org/drawingml/2006/main">
              <a:ext uri="{FF2B5EF4-FFF2-40B4-BE49-F238E27FC236}">
                <a16:creationId xmlns:a16="http://schemas.microsoft.com/office/drawing/2014/main" id="{CFCE0703-382E-4B74-83D6-1B08086D3D25}"/>
              </a:ext>
            </a:extLst>
          </p:cNvPr>
          <p:cNvSpPr>
            <a:spLocks xmlns:a="http://schemas.openxmlformats.org/drawingml/2006/main" noGrp="1"/>
          </p:cNvSpPr>
          <p:nvPr/>
        </p:nvSpPr>
        <p:spPr>
          <a:xfrm xmlns:a="http://schemas.openxmlformats.org/drawingml/2006/main">
            <a:off x="6572250" y="223837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Final ranking</a:t>
            </a:r>
          </a:p>
        </p:txBody>
      </p:sp>
      <p:sp>
        <p:nvSpPr>
          <p:cNvPr id="7" name="text-6">
            <a:extLst xmlns:a="http://schemas.openxmlformats.org/drawingml/2006/main">
              <a:ext uri="{FF2B5EF4-FFF2-40B4-BE49-F238E27FC236}">
                <a16:creationId xmlns:a16="http://schemas.microsoft.com/office/drawing/2014/main" id="{078AB2D9-1DAF-442A-8C62-5A8F73DF5616}"/>
              </a:ext>
            </a:extLst>
          </p:cNvPr>
          <p:cNvSpPr>
            <a:spLocks xmlns:a="http://schemas.openxmlformats.org/drawingml/2006/main" noGrp="1"/>
          </p:cNvSpPr>
          <p:nvPr/>
        </p:nvSpPr>
        <p:spPr>
          <a:xfrm xmlns:a="http://schemas.openxmlformats.org/drawingml/2006/main">
            <a:off x="6572250" y="297180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Did an accepted answer</a:t>
            </a:r>
          </a:p>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appear near the top?</a:t>
            </a:r>
          </a:p>
        </p:txBody>
      </p:sp>
      <p:sp>
        <p:nvSpPr>
          <p:cNvPr id="8" name="text-7">
            <a:extLst xmlns:a="http://schemas.openxmlformats.org/drawingml/2006/main">
              <a:ext uri="{FF2B5EF4-FFF2-40B4-BE49-F238E27FC236}">
                <a16:creationId xmlns:a16="http://schemas.microsoft.com/office/drawing/2014/main" id="{1F156202-D845-4D45-A0ED-DB1482F40670}"/>
              </a:ext>
            </a:extLst>
          </p:cNvPr>
          <p:cNvSpPr>
            <a:spLocks xmlns:a="http://schemas.openxmlformats.org/drawingml/2006/main" noGrp="1"/>
          </p:cNvSpPr>
          <p:nvPr/>
        </p:nvSpPr>
        <p:spPr>
          <a:xfrm xmlns:a="http://schemas.openxmlformats.org/drawingml/2006/main">
            <a:off x="685800" y="46291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546875"/>
                </a:solidFill>
                <a:latin typeface="Arial"/>
                <a:ea typeface="Arial"/>
                <a:cs typeface="Arial"/>
              </a:defRPr>
            </a:pPr>
            <a:r>
              <a:rPr sz="2100" b="1">
                <a:solidFill>
                  <a:srgbClr val="546875"/>
                </a:solidFill>
                <a:latin typeface="Arial"/>
                <a:ea typeface="Arial"/>
                <a:cs typeface="Arial"/>
              </a:rPr>
              <a:t>Controls</a:t>
            </a:r>
          </a:p>
        </p:txBody>
      </p:sp>
      <p:sp>
        <p:nvSpPr>
          <p:cNvPr id="9" name="text-8">
            <a:extLst xmlns:a="http://schemas.openxmlformats.org/drawingml/2006/main">
              <a:ext uri="{FF2B5EF4-FFF2-40B4-BE49-F238E27FC236}">
                <a16:creationId xmlns:a16="http://schemas.microsoft.com/office/drawing/2014/main" id="{E101E7B7-AD41-411D-8226-12BF68D50B0F}"/>
              </a:ext>
            </a:extLst>
          </p:cNvPr>
          <p:cNvSpPr>
            <a:spLocks xmlns:a="http://schemas.openxmlformats.org/drawingml/2006/main" noGrp="1"/>
          </p:cNvSpPr>
          <p:nvPr/>
        </p:nvSpPr>
        <p:spPr>
          <a:xfrm xmlns:a="http://schemas.openxmlformats.org/drawingml/2006/main">
            <a:off x="685800" y="516255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Question-level separation</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Unseen final evaluation</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Matched inference budgets</a:t>
            </a:r>
          </a:p>
        </p:txBody>
      </p:sp>
      <p:sp>
        <p:nvSpPr>
          <p:cNvPr id="10" name="text-9">
            <a:extLst xmlns:a="http://schemas.openxmlformats.org/drawingml/2006/main">
              <a:ext uri="{FF2B5EF4-FFF2-40B4-BE49-F238E27FC236}">
                <a16:creationId xmlns:a16="http://schemas.microsoft.com/office/drawing/2014/main" id="{FB846848-9CAA-4FA5-8137-3B51E5C03BCF}"/>
              </a:ext>
            </a:extLst>
          </p:cNvPr>
          <p:cNvSpPr>
            <a:spLocks xmlns:a="http://schemas.openxmlformats.org/drawingml/2006/main" noGrp="1"/>
          </p:cNvSpPr>
          <p:nvPr/>
        </p:nvSpPr>
        <p:spPr>
          <a:xfrm xmlns:a="http://schemas.openxmlformats.org/drawingml/2006/main">
            <a:off x="6572250" y="46291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546875"/>
                </a:solidFill>
                <a:latin typeface="Arial"/>
                <a:ea typeface="Arial"/>
                <a:cs typeface="Arial"/>
              </a:defRPr>
            </a:pPr>
            <a:r>
              <a:rPr sz="2100" b="1">
                <a:solidFill>
                  <a:srgbClr val="546875"/>
                </a:solidFill>
                <a:latin typeface="Arial"/>
                <a:ea typeface="Arial"/>
                <a:cs typeface="Arial"/>
              </a:rPr>
              <a:t>Interpretation</a:t>
            </a:r>
          </a:p>
        </p:txBody>
      </p:sp>
      <p:sp>
        <p:nvSpPr>
          <p:cNvPr id="11" name="text-10">
            <a:extLst xmlns:a="http://schemas.openxmlformats.org/drawingml/2006/main">
              <a:ext uri="{FF2B5EF4-FFF2-40B4-BE49-F238E27FC236}">
                <a16:creationId xmlns:a16="http://schemas.microsoft.com/office/drawing/2014/main" id="{D7CC9B3F-46B0-49B4-B9AB-98FFCBBE4A7A}"/>
              </a:ext>
            </a:extLst>
          </p:cNvPr>
          <p:cNvSpPr>
            <a:spLocks xmlns:a="http://schemas.openxmlformats.org/drawingml/2006/main" noGrp="1"/>
          </p:cNvSpPr>
          <p:nvPr/>
        </p:nvSpPr>
        <p:spPr>
          <a:xfrm xmlns:a="http://schemas.openxmlformats.org/drawingml/2006/main">
            <a:off x="6572250" y="5162550"/>
            <a:ext cx="4667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Paired confidence intervals</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Semantic and evidence checks</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Candidate coverage and diversity</a:t>
            </a:r>
          </a:p>
        </p:txBody>
      </p:sp>
    </p:spTree>
    <p:extLst>
      <p:ext uri="{BB962C8B-B14F-4D97-AF65-F5344CB8AC3E}">
        <p14:creationId xmlns:p14="http://schemas.microsoft.com/office/powerpoint/2010/main" val="1910610132"/>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908E89D-5C56-47A9-A941-4FF16B06C2A4}"/>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DPO’s contribution to BioASQ factoid answering</a:t>
            </a:r>
          </a:p>
        </p:txBody>
      </p:sp>
      <p:sp>
        <p:nvSpPr>
          <p:cNvPr id="2" name="text-1">
            <a:extLst xmlns:a="http://schemas.openxmlformats.org/drawingml/2006/main">
              <a:ext uri="{FF2B5EF4-FFF2-40B4-BE49-F238E27FC236}">
                <a16:creationId xmlns:a16="http://schemas.microsoft.com/office/drawing/2014/main" id="{DC395F8D-29B2-42C9-9964-4477257CEEA0}"/>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Current evidence and remaining work</a:t>
            </a:r>
          </a:p>
        </p:txBody>
      </p:sp>
      <p:sp>
        <p:nvSpPr>
          <p:cNvPr id="3" name="text-2">
            <a:extLst xmlns:a="http://schemas.openxmlformats.org/drawingml/2006/main">
              <a:ext uri="{FF2B5EF4-FFF2-40B4-BE49-F238E27FC236}">
                <a16:creationId xmlns:a16="http://schemas.microsoft.com/office/drawing/2014/main" id="{5F1247EC-145E-472C-B189-1D10FC80035E}"/>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154729B3-D85A-44BE-A377-28BBCE0CD9D2}"/>
              </a:ext>
            </a:extLst>
          </p:cNvPr>
          <p:cNvSpPr>
            <a:spLocks xmlns:a="http://schemas.openxmlformats.org/drawingml/2006/main" noGrp="1"/>
          </p:cNvSpPr>
          <p:nvPr/>
        </p:nvSpPr>
        <p:spPr>
          <a:xfrm xmlns:a="http://schemas.openxmlformats.org/drawingml/2006/main">
            <a:off x="685800" y="21336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C"/>
                </a:solidFill>
                <a:latin typeface="Arial"/>
                <a:ea typeface="Arial"/>
                <a:cs typeface="Arial"/>
              </a:defRPr>
            </a:pPr>
            <a:r>
              <a:rPr sz="2550" b="1">
                <a:solidFill>
                  <a:srgbClr val="087F8C"/>
                </a:solidFill>
                <a:latin typeface="Arial"/>
                <a:ea typeface="Arial"/>
                <a:cs typeface="Arial"/>
              </a:rPr>
              <a:t>Completed pilots</a:t>
            </a:r>
          </a:p>
        </p:txBody>
      </p:sp>
      <p:sp>
        <p:nvSpPr>
          <p:cNvPr id="5" name="text-4">
            <a:extLst xmlns:a="http://schemas.openxmlformats.org/drawingml/2006/main">
              <a:ext uri="{FF2B5EF4-FFF2-40B4-BE49-F238E27FC236}">
                <a16:creationId xmlns:a16="http://schemas.microsoft.com/office/drawing/2014/main" id="{BF365845-1BEB-4120-9973-86FFEE9D8A21}"/>
              </a:ext>
            </a:extLst>
          </p:cNvPr>
          <p:cNvSpPr>
            <a:spLocks xmlns:a="http://schemas.openxmlformats.org/drawingml/2006/main" noGrp="1"/>
          </p:cNvSpPr>
          <p:nvPr/>
        </p:nvSpPr>
        <p:spPr>
          <a:xfrm xmlns:a="http://schemas.openxmlformats.org/drawingml/2006/main">
            <a:off x="685800" y="27908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132C40"/>
                </a:solidFill>
                <a:latin typeface="Arial"/>
                <a:ea typeface="Arial"/>
                <a:cs typeface="Arial"/>
              </a:defRPr>
            </a:pPr>
            <a:r>
              <a:rPr sz="2775" b="0">
                <a:solidFill>
                  <a:srgbClr val="132C40"/>
                </a:solidFill>
                <a:latin typeface="Arial"/>
                <a:ea typeface="Arial"/>
                <a:cs typeface="Arial"/>
              </a:rPr>
              <a:t>Single-output DPO gives marginal gains.</a:t>
            </a:r>
          </a:p>
          <a:p xmlns:a="http://schemas.openxmlformats.org/drawingml/2006/main">
            <a:pPr algn="l">
              <a:lnSpc>
                <a:spcPct val="112000"/>
              </a:lnSpc>
              <a:buNone/>
              <a:defRPr sz="2775" b="0">
                <a:solidFill>
                  <a:srgbClr val="132C40"/>
                </a:solidFill>
                <a:latin typeface="Arial"/>
                <a:ea typeface="Arial"/>
                <a:cs typeface="Arial"/>
              </a:defRPr>
            </a:pPr>
            <a:r>
              <a:rPr sz="2775" b="0">
                <a:solidFill>
                  <a:srgbClr val="132C40"/>
                </a:solidFill>
                <a:latin typeface="Arial"/>
                <a:ea typeface="Arial"/>
                <a:cs typeface="Arial"/>
              </a:rPr>
              <a:t>Pilot evidence motivates alternative inference strategies.</a:t>
            </a:r>
          </a:p>
        </p:txBody>
      </p:sp>
      <p:sp>
        <p:nvSpPr>
          <p:cNvPr id="6" name="text-5">
            <a:extLst xmlns:a="http://schemas.openxmlformats.org/drawingml/2006/main">
              <a:ext uri="{FF2B5EF4-FFF2-40B4-BE49-F238E27FC236}">
                <a16:creationId xmlns:a16="http://schemas.microsoft.com/office/drawing/2014/main" id="{1D7C4B89-A457-4AE9-91F6-B77B2AA477C0}"/>
              </a:ext>
            </a:extLst>
          </p:cNvPr>
          <p:cNvSpPr>
            <a:spLocks xmlns:a="http://schemas.openxmlformats.org/drawingml/2006/main" noGrp="1"/>
          </p:cNvSpPr>
          <p:nvPr/>
        </p:nvSpPr>
        <p:spPr>
          <a:xfrm xmlns:a="http://schemas.openxmlformats.org/drawingml/2006/main">
            <a:off x="685800" y="41910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C"/>
                </a:solidFill>
                <a:latin typeface="Arial"/>
                <a:ea typeface="Arial"/>
                <a:cs typeface="Arial"/>
              </a:defRPr>
            </a:pPr>
            <a:r>
              <a:rPr sz="2550" b="1">
                <a:solidFill>
                  <a:srgbClr val="087F8C"/>
                </a:solidFill>
                <a:latin typeface="Arial"/>
                <a:ea typeface="Arial"/>
                <a:cs typeface="Arial"/>
              </a:rPr>
              <a:t>Central research question</a:t>
            </a:r>
          </a:p>
        </p:txBody>
      </p:sp>
      <p:sp>
        <p:nvSpPr>
          <p:cNvPr id="7" name="text-6">
            <a:extLst xmlns:a="http://schemas.openxmlformats.org/drawingml/2006/main">
              <a:ext uri="{FF2B5EF4-FFF2-40B4-BE49-F238E27FC236}">
                <a16:creationId xmlns:a16="http://schemas.microsoft.com/office/drawing/2014/main" id="{56EAD9B0-0FD7-45C4-8995-5BDB0FAA2D21}"/>
              </a:ext>
            </a:extLst>
          </p:cNvPr>
          <p:cNvSpPr>
            <a:spLocks xmlns:a="http://schemas.openxmlformats.org/drawingml/2006/main" noGrp="1"/>
          </p:cNvSpPr>
          <p:nvPr/>
        </p:nvSpPr>
        <p:spPr>
          <a:xfrm xmlns:a="http://schemas.openxmlformats.org/drawingml/2006/main">
            <a:off x="685800" y="48482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132C40"/>
                </a:solidFill>
                <a:latin typeface="Arial"/>
                <a:ea typeface="Arial"/>
                <a:cs typeface="Arial"/>
              </a:defRPr>
            </a:pPr>
            <a:r>
              <a:rPr sz="2775" b="1">
                <a:solidFill>
                  <a:srgbClr val="132C40"/>
                </a:solidFill>
                <a:latin typeface="Arial"/>
                <a:ea typeface="Arial"/>
                <a:cs typeface="Arial"/>
              </a:rPr>
              <a:t>Does DPO improve factoid answering beyond SFT</a:t>
            </a:r>
          </a:p>
          <a:p xmlns:a="http://schemas.openxmlformats.org/drawingml/2006/main">
            <a:pPr algn="l">
              <a:lnSpc>
                <a:spcPct val="112000"/>
              </a:lnSpc>
              <a:buNone/>
              <a:defRPr sz="2775" b="1">
                <a:solidFill>
                  <a:srgbClr val="132C40"/>
                </a:solidFill>
                <a:latin typeface="Arial"/>
                <a:ea typeface="Arial"/>
                <a:cs typeface="Arial"/>
              </a:defRPr>
            </a:pPr>
            <a:r>
              <a:rPr sz="2775" b="1">
                <a:solidFill>
                  <a:srgbClr val="132C40"/>
                </a:solidFill>
                <a:latin typeface="Arial"/>
                <a:ea typeface="Arial"/>
                <a:cs typeface="Arial"/>
              </a:rPr>
              <a:t>across different inference strategies?</a:t>
            </a:r>
          </a:p>
        </p:txBody>
      </p:sp>
      <p:sp>
        <p:nvSpPr>
          <p:cNvPr id="8" name="text-7">
            <a:extLst xmlns:a="http://schemas.openxmlformats.org/drawingml/2006/main">
              <a:ext uri="{FF2B5EF4-FFF2-40B4-BE49-F238E27FC236}">
                <a16:creationId xmlns:a16="http://schemas.microsoft.com/office/drawing/2014/main" id="{E8BC7A59-252D-4F1A-87AA-BB513C9358BF}"/>
              </a:ext>
            </a:extLst>
          </p:cNvPr>
          <p:cNvSpPr>
            <a:spLocks xmlns:a="http://schemas.openxmlformats.org/drawingml/2006/main" noGrp="1"/>
          </p:cNvSpPr>
          <p:nvPr/>
        </p:nvSpPr>
        <p:spPr>
          <a:xfrm xmlns:a="http://schemas.openxmlformats.org/drawingml/2006/main">
            <a:off x="685800" y="6172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46875"/>
                </a:solidFill>
                <a:latin typeface="Arial"/>
                <a:ea typeface="Arial"/>
                <a:cs typeface="Arial"/>
              </a:defRPr>
            </a:pPr>
            <a:r>
              <a:rPr sz="1875" b="0">
                <a:solidFill>
                  <a:srgbClr val="546875"/>
                </a:solidFill>
                <a:latin typeface="Arial"/>
                <a:ea typeface="Arial"/>
                <a:cs typeface="Arial"/>
              </a:rPr>
              <a:t>Contribution: identify when DPO helps, adds little or harms performance.</a:t>
            </a:r>
          </a:p>
        </p:txBody>
      </p:sp>
    </p:spTree>
    <p:extLst>
      <p:ext uri="{BB962C8B-B14F-4D97-AF65-F5344CB8AC3E}">
        <p14:creationId xmlns:p14="http://schemas.microsoft.com/office/powerpoint/2010/main" val="474114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2026-10-05T23:31:13.3930000Z</dcterms:created>
  <dcterms:modified xsi:type="dcterms:W3CDTF">2026-10-05T23:31:13.3930000Z</dcterms:modified>
</coreProperties>
</file>