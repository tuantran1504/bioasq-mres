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6f015358374420" /><Relationship Type="http://schemas.openxmlformats.org/officeDocument/2006/relationships/extended-properties" Target="/docProps/app.xml" Id="R3e0d29a38bda4bd3" /><Relationship Type="http://schemas.openxmlformats.org/officeDocument/2006/relationships/officeDocument" Target="/ppt/presentation.xml" Id="R83a297c866fc4444" /></Relationships>
</file>

<file path=ppt/presentation.xml><?xml version="1.0" encoding="utf-8"?>
<p:presentation xmlns:p="http://schemas.openxmlformats.org/presentationml/2006/main">
  <p:sldMasterIdLst>
    <p:sldMasterId xmlns:r="http://schemas.openxmlformats.org/officeDocument/2006/relationships" id="2147483648" r:id="Re9f407e87cd849df"/>
  </p:sldMasterIdLst>
  <p:notesMasterIdLst>
    <p:notesMasterId xmlns:r="http://schemas.openxmlformats.org/officeDocument/2006/relationships" r:id="R1939a8954fe441e9"/>
  </p:notesMasterIdLst>
  <p:sldIdLst>
    <p:sldId xmlns:r="http://schemas.openxmlformats.org/officeDocument/2006/relationships" id="256" r:id="Ra10dc667ba2b4572"/>
    <p:sldId xmlns:r="http://schemas.openxmlformats.org/officeDocument/2006/relationships" id="257" r:id="R325f6d772b4f4ed6"/>
    <p:sldId xmlns:r="http://schemas.openxmlformats.org/officeDocument/2006/relationships" id="258" r:id="R143c6af6273c44e5"/>
    <p:sldId xmlns:r="http://schemas.openxmlformats.org/officeDocument/2006/relationships" id="259" r:id="R4bd8a69a707a4827"/>
    <p:sldId xmlns:r="http://schemas.openxmlformats.org/officeDocument/2006/relationships" id="260" r:id="Rc9122c5eef074a79"/>
    <p:sldId xmlns:r="http://schemas.openxmlformats.org/officeDocument/2006/relationships" id="261" r:id="R1354784e6d03472a"/>
    <p:sldId xmlns:r="http://schemas.openxmlformats.org/officeDocument/2006/relationships" id="262" r:id="R689a1041d4c34891"/>
    <p:sldId xmlns:r="http://schemas.openxmlformats.org/officeDocument/2006/relationships" id="263" r:id="Re9832df597d7464d"/>
    <p:sldId xmlns:r="http://schemas.openxmlformats.org/officeDocument/2006/relationships" id="264" r:id="R31a4897c7adc4822"/>
    <p:sldId xmlns:r="http://schemas.openxmlformats.org/officeDocument/2006/relationships" id="265" r:id="R1fa7f43ece0f42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01d96352724c64" /><Relationship Type="http://schemas.openxmlformats.org/officeDocument/2006/relationships/slideMaster" Target="/ppt/slideMasters/slideMaster1.xml" Id="Re9f407e87cd849df" /><Relationship Type="http://schemas.openxmlformats.org/officeDocument/2006/relationships/notesMaster" Target="/ppt/notesMasters/notesMaster1.xml" Id="R1939a8954fe441e9" /><Relationship Type="http://schemas.openxmlformats.org/officeDocument/2006/relationships/presProps" Target="/ppt/presProps.xml" Id="R3d7d5a3556ca4ef6" /><Relationship Type="http://schemas.openxmlformats.org/officeDocument/2006/relationships/tableStyles" Target="/ppt/tableStyles.xml" Id="R17c288c13a434a54" /><Relationship Type="http://schemas.openxmlformats.org/officeDocument/2006/relationships/slide" Target="/ppt/slides/slide1.xml" Id="Ra10dc667ba2b4572" /><Relationship Type="http://schemas.openxmlformats.org/officeDocument/2006/relationships/slide" Target="/ppt/slides/slide2.xml" Id="R325f6d772b4f4ed6" /><Relationship Type="http://schemas.openxmlformats.org/officeDocument/2006/relationships/slide" Target="/ppt/slides/slide3.xml" Id="R143c6af6273c44e5" /><Relationship Type="http://schemas.openxmlformats.org/officeDocument/2006/relationships/slide" Target="/ppt/slides/slide4.xml" Id="R4bd8a69a707a4827" /><Relationship Type="http://schemas.openxmlformats.org/officeDocument/2006/relationships/slide" Target="/ppt/slides/slide5.xml" Id="Rc9122c5eef074a79" /><Relationship Type="http://schemas.openxmlformats.org/officeDocument/2006/relationships/slide" Target="/ppt/slides/slide6.xml" Id="R1354784e6d03472a" /><Relationship Type="http://schemas.openxmlformats.org/officeDocument/2006/relationships/slide" Target="/ppt/slides/slide7.xml" Id="R689a1041d4c34891" /><Relationship Type="http://schemas.openxmlformats.org/officeDocument/2006/relationships/slide" Target="/ppt/slides/slide8.xml" Id="Re9832df597d7464d" /><Relationship Type="http://schemas.openxmlformats.org/officeDocument/2006/relationships/slide" Target="/ppt/slides/slide9.xml" Id="R31a4897c7adc4822" /><Relationship Type="http://schemas.openxmlformats.org/officeDocument/2006/relationships/slide" Target="/ppt/slides/slide10.xml" Id="R1fa7f43ece0f42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ad8c0279b944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dad075549b49b1" /><Relationship Type="http://schemas.openxmlformats.org/officeDocument/2006/relationships/notesMaster" Target="/ppt/notesMasters/notesMaster1.xml" Id="R8d6d696638564a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21eb22bcd74170" /><Relationship Type="http://schemas.openxmlformats.org/officeDocument/2006/relationships/notesMaster" Target="/ppt/notesMasters/notesMaster1.xml" Id="R9d374c5801164c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47427e2709439d" /><Relationship Type="http://schemas.openxmlformats.org/officeDocument/2006/relationships/notesMaster" Target="/ppt/notesMasters/notesMaster1.xml" Id="R6108aba40fd342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c09679940f4aa4" /><Relationship Type="http://schemas.openxmlformats.org/officeDocument/2006/relationships/notesMaster" Target="/ppt/notesMasters/notesMaster1.xml" Id="Red9c484e4bfa4d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03d06307964b0b" /><Relationship Type="http://schemas.openxmlformats.org/officeDocument/2006/relationships/notesMaster" Target="/ppt/notesMasters/notesMaster1.xml" Id="R335e711070864d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c1bab1cfdd436c" /><Relationship Type="http://schemas.openxmlformats.org/officeDocument/2006/relationships/notesMaster" Target="/ppt/notesMasters/notesMaster1.xml" Id="R0d878cf81bea4e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373daeb6734f3b" /><Relationship Type="http://schemas.openxmlformats.org/officeDocument/2006/relationships/notesMaster" Target="/ppt/notesMasters/notesMaster1.xml" Id="Rce6120374f3f4e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311d082abd482f" /><Relationship Type="http://schemas.openxmlformats.org/officeDocument/2006/relationships/notesMaster" Target="/ppt/notesMasters/notesMaster1.xml" Id="R3a0d44931f8046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2ea4d64e664dab" /><Relationship Type="http://schemas.openxmlformats.org/officeDocument/2006/relationships/notesMaster" Target="/ppt/notesMasters/notesMaster1.xml" Id="Ra991cbb8763d44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1c583add274bc1" /><Relationship Type="http://schemas.openxmlformats.org/officeDocument/2006/relationships/notesMaster" Target="/ppt/notesMasters/notesMaster1.xml" Id="R3af6a9d75109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 The project asks whether Direct Preference Optimisation adds value beyond supervised fine-tuning for BioASQ exact answering. Begin with the concrete answer task, then explain the initial results and why expansion became the next intervention. Factoids are the primary confirmatory task; list answering is a planned extension.</a:t>
            </a:r>
          </a:p>
          <a:p xmlns:a="http://schemas.openxmlformats.org/drawingml/2006/main">
            <a:r>
              <a:t/>
            </a:r>
          </a:p>
          <a:p xmlns:a="http://schemas.openxmlformats.org/drawingml/2006/main">
            <a:r>
              <a:t>Cover artwork: generated using the built-in image generation tool. Abstract decorative illustration, not scientific evidence. Saved asset: Artifacts/presentation_builds/bioasq_methodology_20261006/cover-art.png. Prompt: restrained cream, navy and teal editorial illustration of alternative scientific paper expressions converging into one thread; no legible text, no anatomical claims, no logos or UI.</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Read the short question and point to the same concept in the supplied snippet. This is a real question from the fixed development set, identifier 53188480b166e2b806000018. The stored accepted alias is shown verbatim. The task requires a short exact answer, not an explanation. Factoid systems may return ranked alternative strings. For list questions, multiple distinct entities are required; aliases of the same entity must not become extra list items. We will revisit this question to show why an answer expression can lose credit.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Explain the two training objectives in ordinary language. SFT learns a target response. DPO uses preferred and rejected responses relative to a reference policy. The methodology reports that SFT helped and DPO provided only a marginal further gain in the initial single-output study. This slide deliberately has no numeric DPO comparison because a matching baseline/SFT/DPO evaluation series has not been independently verified for this deck. Present the marginal finding as the project's reported pilot observation, not a statistically confirmed effect or evidence that DPO cannot help elsewhere. Source for DPO method: Rafailov et al., https://arxiv.org/abs/2305.18290.</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The grouped chart uses saved official Java scores and the completed paired semantic-relation judge, rubric v2. Exact accuracy is 40.625% for 0.5B and 44.375% for 3B; semantic accuracy is 74.375% and 81.25%. Because each system returns one answer, exact accuracy equals MRR here. The model response for gefitinib omits the acronym in parentheses. The official matcher gives zero credit, while the judge labels it equivalent and supported. The gap motivates expansion but should not be treated as proof that every exact failure is a synonym error. Semantic judgments remain secondary and need an independent audit.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These counts are recomputed from official per-question scores, not semantic labels. Both models answer 51 questions correctly. Fourteen are correct only for 0.5B, twenty only for 3B, and seventy-five for neither. Totals are 65/160 and 71/160, matching the saved MRR values. For the displayed real question, the accepted answer and smaller-model output are galactocerebrosidase; the larger model outputs beta-galactosidase. This is a concept error rather than merely a surface-form error. Pooling can combine complementary successes, but selecting either model with oracle access would not be a deployable system. A ranker is still needed.</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70 seconds. The candidate strings on this slide illustrate a possible expansion of the real question; they are not claimed to be a particular generator's measured output. The snippets themselves name the full receptor and EGFR, so the example illustrates evidence-grounded alternative expressions. Individual generators contribute candidates to a common pool. Validation checks meaning and evidence, and conservative deduplication preserves original strings for scoring. Ranking selects up to five factoid alternatives. For list questions, selection must recover distinct entities rather than submit synonyms as separate items. The two measurable stages are availability of an accepted candidate and ordering or entity selection. Never show evaluation gold as part of generator input.</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Each individual generator produces up to ten candidates for the same 160 development questions. The saved official candidate matching gives 84 covered questions for Llama, 88 for GPT-4.1 mini, and their recomputed question-level union covers 102, or 63.75%. This is promising complementarity without additional BioASQ-specific adaptation. The unrestricted union may contain more candidates than an individual source. It is an oracle generation diagnostic, not an official ten-answer submission or a demonstrated MRR improvement. Planned comparisons use fixed candidate budgets and frozen selection to test how much of this coverage can become final ranked performance.</a:t>
            </a:r>
          </a:p>
          <a:p xmlns:a="http://schemas.openxmlformats.org/drawingml/2006/main">
            <a:r>
              <a:t/>
            </a:r>
          </a:p>
          <a:p xmlns:a="http://schemas.openxmlformats.org/drawingml/2006/main">
            <a:r>
              <a:t>Sources:</a:t>
            </a:r>
          </a:p>
          <a:p xmlns:a="http://schemas.openxmlformats.org/drawingml/2006/main">
            <a:r>
              <a:t>C:\Users\Dustin\Projects\BioASQ-MRES\Artifacts\gadi_runs\llama31_8b_equivalent_dev160\analysis-c672a1c9\per_question.jsonl</a:t>
            </a:r>
          </a:p>
          <a:p xmlns:a="http://schemas.openxmlformats.org/drawingml/2006/main">
            <a:r>
              <a:t>C:\Users\Dustin\Projects\BioASQ-MRES\Artifacts\notebook_runs\coverage_comparison\20260929-070458-a6267ca4\analysis-59ac5450\per_question.jsonl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A is an existing instruction-tuned model without extra BioASQ adaptation, not an untrained language model. B learns validated expansion targets. C starts from B and learns preferences between complete expansion responses, using B as its frozen reference. D continues supervised learning with a comparable update budget, to distinguish DPO from simply doing more training. Primary planned backbone is Qwen3-8B with QLoRA. Prefer responses that add accepted expressions without increasing incorrect or unsupported candidates; do not reward length alone. In pooled comparisons the companion generator stays frozen. Selection also stays frozen, so C-minus-B isolates generator adaptation. Hyperparameter selection uses internal validation only.</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70 seconds. Explain MRR without deriving it: the score rewards an accepted answer more when it appears earlier in the ranked output. Official factoid submissions have at most five alternatives, while coverage at ten is a generation diagnostic. A positive C-minus-B estimate with a paired confidence interval excluding zero supports a benefit for this tested setting; an interval spanning zero expresses uncertainty. Use 10,000 paired bootstrap resamples and report seed variability separately. The development set has informed the architecture, so further tuning uses the proposed internal validation partition; audit previous test exposure and reserve unseen questions for final confirmation. Semantic judging, unsupported candidates and loss of diversity explain effects, and list questions require a separate F1 analysis.</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 seconds. Close by returning to the central research question. The contribution is a controlled estimate of DPO's additional value, not an assumption that DPO must improve the score. The pilots establish a reason to examine alternative expressions and complementary models. They do not yet establish the effect of trained expansion or final ranked performance. Complete the matched expansion-SFT and DPO experiment first. A small, negative or uncertain result is still informative if the study separates candidate quality, ranking and extra training. List answering and selector DPO are secondary extensions whose labels and compute must support credible evaluation. Invite questions about the preference construction and the distinction between pool coverage and final exact-answer scores.</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de99f18b8947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814f16be674a2c" /><Relationship Type="http://schemas.openxmlformats.org/officeDocument/2006/relationships/slideLayout" Target="/ppt/slideLayouts/slideLayout1.xml" Id="Rdf7b6a1a5dcc4a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7b6a1a5dcc4a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385b48dc894ca5" /><Relationship Type="http://schemas.openxmlformats.org/officeDocument/2006/relationships/image" Target="/ppt/media/image.png" Id="R6e5248378014412b" /><Relationship Type="http://schemas.openxmlformats.org/officeDocument/2006/relationships/notesSlide" Target="/ppt/notesSlides/notesSlide1.xml" Id="Rc8175301366a48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58305060174aff" /><Relationship Type="http://schemas.openxmlformats.org/officeDocument/2006/relationships/notesSlide" Target="/ppt/notesSlides/notesSlide2.xml" Id="Re8aea566a95e4f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2abf1a89834811" /><Relationship Type="http://schemas.openxmlformats.org/officeDocument/2006/relationships/notesSlide" Target="/ppt/notesSlides/notesSlide3.xml" Id="Re78684ea3d4545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10e51930844233" /><Relationship Type="http://schemas.openxmlformats.org/officeDocument/2006/relationships/chart" Target="/ppt/slides/charts/chart1.xml" Id="Rfe3ab526dbff4a15" /><Relationship Type="http://schemas.openxmlformats.org/officeDocument/2006/relationships/notesSlide" Target="/ppt/notesSlides/notesSlide4.xml" Id="Rbaa363add3984e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43a1020558432e" /><Relationship Type="http://schemas.openxmlformats.org/officeDocument/2006/relationships/chart" Target="/ppt/slides/charts/chart2.xml" Id="Refe0800aaa1c4d12" /><Relationship Type="http://schemas.openxmlformats.org/officeDocument/2006/relationships/notesSlide" Target="/ppt/notesSlides/notesSlide5.xml" Id="R73bddd16d16c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34e14f56464097" /><Relationship Type="http://schemas.openxmlformats.org/officeDocument/2006/relationships/notesSlide" Target="/ppt/notesSlides/notesSlide6.xml" Id="R3b15b3bfe8da4c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51775de1794cb2" /><Relationship Type="http://schemas.openxmlformats.org/officeDocument/2006/relationships/chart" Target="/ppt/slides/charts/chart3.xml" Id="Rcebf57b194684e20" /><Relationship Type="http://schemas.openxmlformats.org/officeDocument/2006/relationships/notesSlide" Target="/ppt/notesSlides/notesSlide7.xml" Id="R8b229f3212b743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f26a3a869c4373" /><Relationship Type="http://schemas.openxmlformats.org/officeDocument/2006/relationships/notesSlide" Target="/ppt/notesSlides/notesSlide8.xml" Id="Rf2d9c324924846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2a015d8067485b" /><Relationship Type="http://schemas.openxmlformats.org/officeDocument/2006/relationships/notesSlide" Target="/ppt/notesSlides/notesSlide9.xml" Id="R4d179e5bdff140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31328f87874835" /><Relationship Type="http://schemas.openxmlformats.org/officeDocument/2006/relationships/notesSlide" Target="/ppt/notesSlides/notesSlide10.xml" Id="Rb1b01d7c431d44a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Official exact accuracy</c:v>
          </c:tx>
          <c:spPr>
            <a:solidFill xmlns:a="http://schemas.openxmlformats.org/drawingml/2006/main">
              <a:srgbClr val="132C40"/>
            </a:solidFill>
          </c:spPr>
          <c:cat>
            <c:strRef>
              <c:f>'Chart Data'!$A$2:$A$3</c:f>
              <c:strCache>
                <c:ptCount val="2"/>
                <c:pt idx="0">
                  <c:v>Qwen2.5 0.5B</c:v>
                </c:pt>
                <c:pt idx="1">
                  <c:v>Qwen2.5 3B</c:v>
                </c:pt>
              </c:strCache>
            </c:strRef>
          </c:cat>
          <c:val>
            <c:numRef>
              <c:f>'Chart Data'!$B$2:$B$3</c:f>
              <c:numCache>
                <c:formatCode>0.0%</c:formatCode>
                <c:ptCount val="2"/>
                <c:pt idx="0">
                  <c:v>0.40625</c:v>
                </c:pt>
                <c:pt idx="1">
                  <c:v>0.44375</c:v>
                </c:pt>
              </c:numCache>
            </c:numRef>
          </c:val>
        </c:ser>
        <c:ser>
          <c:idx val="1"/>
          <c:order val="1"/>
          <c:tx>
            <c:v>LLM-judged semantic accuracy</c:v>
          </c:tx>
          <c:spPr>
            <a:solidFill xmlns:a="http://schemas.openxmlformats.org/drawingml/2006/main">
              <a:srgbClr val="087F8C"/>
            </a:solidFill>
          </c:spPr>
          <c:cat>
            <c:strRef>
              <c:f>'Chart Data'!$C$2:$C$3</c:f>
              <c:strCache>
                <c:ptCount val="2"/>
                <c:pt idx="0">
                  <c:v>Qwen2.5 0.5B</c:v>
                </c:pt>
                <c:pt idx="1">
                  <c:v>Qwen2.5 3B</c:v>
                </c:pt>
              </c:strCache>
            </c:strRef>
          </c:cat>
          <c:val>
            <c:numRef>
              <c:f>'Chart Data'!$D$2:$D$3</c:f>
              <c:numCache>
                <c:formatCode>0.0%</c:formatCode>
                <c:ptCount val="2"/>
                <c:pt idx="0">
                  <c:v>0.74375</c:v>
                </c:pt>
                <c:pt idx="1">
                  <c:v>0.8125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32C40"/>
              </a:solidFill>
              <a:latin typeface="Arial"/>
              <a:ea typeface="Arial"/>
              <a:cs typeface="Arial"/>
            </a:defRPr>
          </a:pPr>
        </a:p>
      </c:txPr>
    </c:legend>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questions</c:v>
          </c:tx>
          <c:spPr>
            <a:solidFill xmlns:a="http://schemas.openxmlformats.org/drawingml/2006/main">
              <a:srgbClr val="132C40"/>
            </a:solidFill>
          </c:spPr>
          <c:dPt>
            <c:idx val="0"/>
            <c:invertIfNegative val="0"/>
            <c:spPr>
              <a:solidFill xmlns:a="http://schemas.openxmlformats.org/drawingml/2006/main">
                <a:srgbClr val="132C40"/>
              </a:solidFill>
            </c:spPr>
          </c:dPt>
          <c:dPt>
            <c:idx val="1"/>
            <c:invertIfNegative val="0"/>
            <c:spPr>
              <a:solidFill xmlns:a="http://schemas.openxmlformats.org/drawingml/2006/main">
                <a:srgbClr val="087F8C"/>
              </a:solidFill>
            </c:spPr>
          </c:dPt>
          <c:dPt>
            <c:idx val="2"/>
            <c:invertIfNegative val="0"/>
            <c:spPr>
              <a:solidFill xmlns:a="http://schemas.openxmlformats.org/drawingml/2006/main">
                <a:srgbClr val="8EA8BD"/>
              </a:solidFill>
            </c:spPr>
          </c:dPt>
          <c:cat>
            <c:strRef>
              <c:f>'Chart Data'!$A$2:$A$4</c:f>
              <c:strCache>
                <c:ptCount val="3"/>
                <c:pt idx="0">
                  <c:v>Both models</c:v>
                </c:pt>
                <c:pt idx="1">
                  <c:v>Only 0.5B</c:v>
                </c:pt>
                <c:pt idx="2">
                  <c:v>Only 3B</c:v>
                </c:pt>
              </c:strCache>
            </c:strRef>
          </c:cat>
          <c:val>
            <c:numRef>
              <c:f>'Chart Data'!$B$2:$B$4</c:f>
              <c:numCache>
                <c:formatCode>0</c:formatCode>
                <c:ptCount val="3"/>
                <c:pt idx="0">
                  <c:v>51</c:v>
                </c:pt>
                <c:pt idx="1">
                  <c:v>14</c:v>
                </c:pt>
                <c:pt idx="2">
                  <c:v>20</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20"/>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Candidate coverage</c:v>
          </c:tx>
          <c:spPr>
            <a:solidFill xmlns:a="http://schemas.openxmlformats.org/drawingml/2006/main">
              <a:srgbClr val="132C40"/>
            </a:solidFill>
          </c:spPr>
          <c:dPt>
            <c:idx val="0"/>
            <c:invertIfNegative val="0"/>
            <c:spPr>
              <a:solidFill xmlns:a="http://schemas.openxmlformats.org/drawingml/2006/main">
                <a:srgbClr val="8EA8BD"/>
              </a:solidFill>
            </c:spPr>
          </c:dPt>
          <c:dPt>
            <c:idx val="1"/>
            <c:invertIfNegative val="0"/>
            <c:spPr>
              <a:solidFill xmlns:a="http://schemas.openxmlformats.org/drawingml/2006/main">
                <a:srgbClr val="132C40"/>
              </a:solidFill>
            </c:spPr>
          </c:dPt>
          <c:dPt>
            <c:idx val="2"/>
            <c:invertIfNegative val="0"/>
            <c:spPr>
              <a:solidFill xmlns:a="http://schemas.openxmlformats.org/drawingml/2006/main">
                <a:srgbClr val="087F8C"/>
              </a:solidFill>
            </c:spPr>
          </c:dPt>
          <c:cat>
            <c:strRef>
              <c:f>'Chart Data'!$A$2:$A$4</c:f>
              <c:strCache>
                <c:ptCount val="3"/>
                <c:pt idx="0">
                  <c:v>Llama-3.1-8B</c:v>
                </c:pt>
                <c:pt idx="1">
                  <c:v>GPT-4.1 mini</c:v>
                </c:pt>
                <c:pt idx="2">
                  <c:v>Combined pool</c:v>
                </c:pt>
              </c:strCache>
            </c:strRef>
          </c:cat>
          <c:val>
            <c:numRef>
              <c:f>'Chart Data'!$B$2:$B$4</c:f>
              <c:numCache>
                <c:formatCode>0.00%</c:formatCode>
                <c:ptCount val="3"/>
                <c:pt idx="0">
                  <c:v>0.525</c:v>
                </c:pt>
                <c:pt idx="1">
                  <c:v>0.55</c:v>
                </c:pt>
                <c:pt idx="2">
                  <c:v>0.6375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10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e5248378014412b"/>
          <a:srcRect xmlns:a="http://schemas.openxmlformats.org/drawingml/2006/main" l="1852" t="0" r="1852"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72391DD-301E-4F24-821C-B33EDD799FFB}"/>
              </a:ext>
            </a:extLst>
          </p:cNvPr>
          <p:cNvSpPr>
            <a:spLocks xmlns:a="http://schemas.openxmlformats.org/drawingml/2006/main" noGrp="1"/>
          </p:cNvSpPr>
          <p:nvPr/>
        </p:nvSpPr>
        <p:spPr>
          <a:xfrm xmlns:a="http://schemas.openxmlformats.org/drawingml/2006/main">
            <a:off x="685800" y="6477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087F8C"/>
                </a:solidFill>
                <a:latin typeface="Arial"/>
                <a:ea typeface="Arial"/>
                <a:cs typeface="Arial"/>
              </a:defRPr>
            </a:pPr>
            <a:r>
              <a:rPr sz="2100" b="1">
                <a:solidFill>
                  <a:srgbClr val="087F8C"/>
                </a:solidFill>
                <a:latin typeface="Arial"/>
                <a:ea typeface="Arial"/>
                <a:cs typeface="Arial"/>
              </a:rPr>
              <a:t>BioASQ exact answering</a:t>
            </a:r>
          </a:p>
        </p:txBody>
      </p:sp>
      <p:sp>
        <p:nvSpPr>
          <p:cNvPr id="3" name="text-1">
            <a:extLst xmlns:a="http://schemas.openxmlformats.org/drawingml/2006/main">
              <a:ext uri="{FF2B5EF4-FFF2-40B4-BE49-F238E27FC236}">
                <a16:creationId xmlns:a16="http://schemas.microsoft.com/office/drawing/2014/main" id="{AD572CF5-13E9-4D8E-9826-CB716A3D44A7}"/>
              </a:ext>
            </a:extLst>
          </p:cNvPr>
          <p:cNvSpPr>
            <a:spLocks xmlns:a="http://schemas.openxmlformats.org/drawingml/2006/main" noGrp="1"/>
          </p:cNvSpPr>
          <p:nvPr/>
        </p:nvSpPr>
        <p:spPr>
          <a:xfrm xmlns:a="http://schemas.openxmlformats.org/drawingml/2006/main">
            <a:off x="685800" y="1714500"/>
            <a:ext cx="704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132C40"/>
                </a:solidFill>
                <a:latin typeface="Arial"/>
                <a:ea typeface="Arial"/>
                <a:cs typeface="Arial"/>
              </a:defRPr>
            </a:pPr>
            <a:r>
              <a:rPr sz="4800" b="1">
                <a:solidFill>
                  <a:srgbClr val="132C40"/>
                </a:solidFill>
                <a:latin typeface="Arial"/>
                <a:ea typeface="Arial"/>
                <a:cs typeface="Arial"/>
              </a:rPr>
              <a:t>Can DPO improve</a:t>
            </a:r>
          </a:p>
          <a:p xmlns:a="http://schemas.openxmlformats.org/drawingml/2006/main">
            <a:pPr algn="l">
              <a:lnSpc>
                <a:spcPct val="112000"/>
              </a:lnSpc>
              <a:buNone/>
              <a:defRPr sz="4800" b="1">
                <a:solidFill>
                  <a:srgbClr val="132C40"/>
                </a:solidFill>
                <a:latin typeface="Arial"/>
                <a:ea typeface="Arial"/>
                <a:cs typeface="Arial"/>
              </a:defRPr>
            </a:pPr>
            <a:r>
              <a:rPr sz="4800" b="1">
                <a:solidFill>
                  <a:srgbClr val="132C40"/>
                </a:solidFill>
                <a:latin typeface="Arial"/>
                <a:ea typeface="Arial"/>
                <a:cs typeface="Arial"/>
              </a:rPr>
              <a:t>answer expansion?</a:t>
            </a:r>
          </a:p>
        </p:txBody>
      </p:sp>
      <p:sp>
        <p:nvSpPr>
          <p:cNvPr id="4" name="text-2">
            <a:extLst xmlns:a="http://schemas.openxmlformats.org/drawingml/2006/main">
              <a:ext uri="{FF2B5EF4-FFF2-40B4-BE49-F238E27FC236}">
                <a16:creationId xmlns:a16="http://schemas.microsoft.com/office/drawing/2014/main" id="{46079D0F-8A3F-4299-AD64-88CDCF73BBE3}"/>
              </a:ext>
            </a:extLst>
          </p:cNvPr>
          <p:cNvSpPr>
            <a:spLocks xmlns:a="http://schemas.openxmlformats.org/drawingml/2006/main" noGrp="1"/>
          </p:cNvSpPr>
          <p:nvPr/>
        </p:nvSpPr>
        <p:spPr>
          <a:xfrm xmlns:a="http://schemas.openxmlformats.org/drawingml/2006/main">
            <a:off x="685800" y="40386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546875"/>
                </a:solidFill>
                <a:latin typeface="Arial"/>
                <a:ea typeface="Arial"/>
                <a:cs typeface="Arial"/>
              </a:defRPr>
            </a:pPr>
            <a:r>
              <a:rPr sz="2250" b="0">
                <a:solidFill>
                  <a:srgbClr val="546875"/>
                </a:solidFill>
                <a:latin typeface="Arial"/>
                <a:ea typeface="Arial"/>
                <a:cs typeface="Arial"/>
              </a:rPr>
              <a:t>Research methodology</a:t>
            </a:r>
          </a:p>
          <a:p xmlns:a="http://schemas.openxmlformats.org/drawingml/2006/main">
            <a:pPr algn="l">
              <a:lnSpc>
                <a:spcPct val="112000"/>
              </a:lnSpc>
              <a:buNone/>
              <a:defRPr sz="2250" b="0">
                <a:solidFill>
                  <a:srgbClr val="546875"/>
                </a:solidFill>
                <a:latin typeface="Arial"/>
                <a:ea typeface="Arial"/>
                <a:cs typeface="Arial"/>
              </a:defRPr>
            </a:pPr>
            <a:r>
              <a:rPr sz="2250" b="0">
                <a:solidFill>
                  <a:srgbClr val="546875"/>
                </a:solidFill>
                <a:latin typeface="Arial"/>
                <a:ea typeface="Arial"/>
                <a:cs typeface="Arial"/>
              </a:rPr>
              <a:t>Factoid study with a planned list extension</a:t>
            </a:r>
          </a:p>
        </p:txBody>
      </p:sp>
      <p:sp>
        <p:nvSpPr>
          <p:cNvPr id="5" name="text-3">
            <a:extLst xmlns:a="http://schemas.openxmlformats.org/drawingml/2006/main">
              <a:ext uri="{FF2B5EF4-FFF2-40B4-BE49-F238E27FC236}">
                <a16:creationId xmlns:a16="http://schemas.microsoft.com/office/drawing/2014/main" id="{BA0C4F9A-23B1-4940-8F57-060A9CC69133}"/>
              </a:ext>
            </a:extLst>
          </p:cNvPr>
          <p:cNvSpPr>
            <a:spLocks xmlns:a="http://schemas.openxmlformats.org/drawingml/2006/main" noGrp="1"/>
          </p:cNvSpPr>
          <p:nvPr/>
        </p:nvSpPr>
        <p:spPr>
          <a:xfrm xmlns:a="http://schemas.openxmlformats.org/drawingml/2006/main">
            <a:off x="685800" y="590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COMP8990 · MRes · 6 October 2026</a:t>
            </a:r>
          </a:p>
        </p:txBody>
      </p:sp>
    </p:spTree>
    <p:extLst>
      <p:ext uri="{BB962C8B-B14F-4D97-AF65-F5344CB8AC3E}">
        <p14:creationId xmlns:p14="http://schemas.microsoft.com/office/powerpoint/2010/main" val="733943753"/>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FDF8FB5-2A5E-4266-AD3C-5104FECDE4B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What counts as a correct answer?</a:t>
            </a:r>
          </a:p>
        </p:txBody>
      </p:sp>
      <p:sp>
        <p:nvSpPr>
          <p:cNvPr id="2" name="text-1">
            <a:extLst xmlns:a="http://schemas.openxmlformats.org/drawingml/2006/main">
              <a:ext uri="{FF2B5EF4-FFF2-40B4-BE49-F238E27FC236}">
                <a16:creationId xmlns:a16="http://schemas.microsoft.com/office/drawing/2014/main" id="{560A9551-8CF9-4432-A1D4-515800AD9A0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Real BioASQ factoid example · PMID 23255952</a:t>
            </a:r>
          </a:p>
        </p:txBody>
      </p:sp>
      <p:sp>
        <p:nvSpPr>
          <p:cNvPr id="3" name="text-2">
            <a:extLst xmlns:a="http://schemas.openxmlformats.org/drawingml/2006/main">
              <a:ext uri="{FF2B5EF4-FFF2-40B4-BE49-F238E27FC236}">
                <a16:creationId xmlns:a16="http://schemas.microsoft.com/office/drawing/2014/main" id="{48303634-A471-4ABE-B9EB-333AF093D6A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2</a:t>
            </a:r>
          </a:p>
        </p:txBody>
      </p:sp>
      <p:sp>
        <p:nvSpPr>
          <p:cNvPr id="4" name="text-3">
            <a:extLst xmlns:a="http://schemas.openxmlformats.org/drawingml/2006/main">
              <a:ext uri="{FF2B5EF4-FFF2-40B4-BE49-F238E27FC236}">
                <a16:creationId xmlns:a16="http://schemas.microsoft.com/office/drawing/2014/main" id="{B6C49E20-C94C-414B-AFAD-555315168948}"/>
              </a:ext>
            </a:extLst>
          </p:cNvPr>
          <p:cNvSpPr>
            <a:spLocks xmlns:a="http://schemas.openxmlformats.org/drawingml/2006/main" noGrp="1"/>
          </p:cNvSpPr>
          <p:nvPr/>
        </p:nvSpPr>
        <p:spPr>
          <a:xfrm xmlns:a="http://schemas.openxmlformats.org/drawingml/2006/main">
            <a:off x="685800" y="20193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32C40"/>
                </a:solidFill>
                <a:latin typeface="Arial"/>
                <a:ea typeface="Arial"/>
                <a:cs typeface="Arial"/>
              </a:defRPr>
            </a:pPr>
            <a:r>
              <a:rPr sz="2925" b="1">
                <a:solidFill>
                  <a:srgbClr val="132C40"/>
                </a:solidFill>
                <a:latin typeface="Arial"/>
                <a:ea typeface="Arial"/>
                <a:cs typeface="Arial"/>
              </a:rPr>
              <a:t>Which is the cellular target of gefitinib?</a:t>
            </a:r>
          </a:p>
        </p:txBody>
      </p:sp>
      <p:sp>
        <p:nvSpPr>
          <p:cNvPr id="5" name="text-4">
            <a:extLst xmlns:a="http://schemas.openxmlformats.org/drawingml/2006/main">
              <a:ext uri="{FF2B5EF4-FFF2-40B4-BE49-F238E27FC236}">
                <a16:creationId xmlns:a16="http://schemas.microsoft.com/office/drawing/2014/main" id="{147D6FDF-8E90-44A8-9111-089AC74E15F7}"/>
              </a:ext>
            </a:extLst>
          </p:cNvPr>
          <p:cNvSpPr>
            <a:spLocks xmlns:a="http://schemas.openxmlformats.org/drawingml/2006/main" noGrp="1"/>
          </p:cNvSpPr>
          <p:nvPr/>
        </p:nvSpPr>
        <p:spPr>
          <a:xfrm xmlns:a="http://schemas.openxmlformats.org/drawingml/2006/main">
            <a:off x="685800" y="2933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SUPPLIED SNIPPET</a:t>
            </a:r>
          </a:p>
        </p:txBody>
      </p:sp>
      <p:sp>
        <p:nvSpPr>
          <p:cNvPr id="6" name="text-5">
            <a:extLst xmlns:a="http://schemas.openxmlformats.org/drawingml/2006/main">
              <a:ext uri="{FF2B5EF4-FFF2-40B4-BE49-F238E27FC236}">
                <a16:creationId xmlns:a16="http://schemas.microsoft.com/office/drawing/2014/main" id="{10C0F00E-D2CA-4C22-855F-73CC887D17D5}"/>
              </a:ext>
            </a:extLst>
          </p:cNvPr>
          <p:cNvSpPr>
            <a:spLocks xmlns:a="http://schemas.openxmlformats.org/drawingml/2006/main" noGrp="1"/>
          </p:cNvSpPr>
          <p:nvPr/>
        </p:nvSpPr>
        <p:spPr>
          <a:xfrm xmlns:a="http://schemas.openxmlformats.org/drawingml/2006/main">
            <a:off x="685800" y="33718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“Gefitinib, the specific inhibitor of the epidermal growth factor receptor (EGFR), may cause growth delay in cancer cell lines.”</a:t>
            </a:r>
          </a:p>
        </p:txBody>
      </p:sp>
      <p:sp>
        <p:nvSpPr>
          <p:cNvPr id="7" name="text-6">
            <a:extLst xmlns:a="http://schemas.openxmlformats.org/drawingml/2006/main">
              <a:ext uri="{FF2B5EF4-FFF2-40B4-BE49-F238E27FC236}">
                <a16:creationId xmlns:a16="http://schemas.microsoft.com/office/drawing/2014/main" id="{0BCF779C-FEA8-46BE-B254-BCB77B1029F7}"/>
              </a:ext>
            </a:extLst>
          </p:cNvPr>
          <p:cNvSpPr>
            <a:spLocks xmlns:a="http://schemas.openxmlformats.org/drawingml/2006/main" noGrp="1"/>
          </p:cNvSpPr>
          <p:nvPr/>
        </p:nvSpPr>
        <p:spPr>
          <a:xfrm xmlns:a="http://schemas.openxmlformats.org/drawingml/2006/main">
            <a:off x="685800" y="47053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ACCEPTED ANSWER</a:t>
            </a:r>
          </a:p>
        </p:txBody>
      </p:sp>
      <p:sp>
        <p:nvSpPr>
          <p:cNvPr id="8" name="text-7">
            <a:extLst xmlns:a="http://schemas.openxmlformats.org/drawingml/2006/main">
              <a:ext uri="{FF2B5EF4-FFF2-40B4-BE49-F238E27FC236}">
                <a16:creationId xmlns:a16="http://schemas.microsoft.com/office/drawing/2014/main" id="{6A42EAB9-B6D1-4FA9-AF43-7A61A34321AE}"/>
              </a:ext>
            </a:extLst>
          </p:cNvPr>
          <p:cNvSpPr>
            <a:spLocks xmlns:a="http://schemas.openxmlformats.org/drawingml/2006/main" noGrp="1"/>
          </p:cNvSpPr>
          <p:nvPr/>
        </p:nvSpPr>
        <p:spPr>
          <a:xfrm xmlns:a="http://schemas.openxmlformats.org/drawingml/2006/main">
            <a:off x="685800" y="510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Epidermal growth factor receptor (EGFR)</a:t>
            </a:r>
          </a:p>
        </p:txBody>
      </p:sp>
      <p:sp>
        <p:nvSpPr>
          <p:cNvPr id="9" name="text-8">
            <a:extLst xmlns:a="http://schemas.openxmlformats.org/drawingml/2006/main">
              <a:ext uri="{FF2B5EF4-FFF2-40B4-BE49-F238E27FC236}">
                <a16:creationId xmlns:a16="http://schemas.microsoft.com/office/drawing/2014/main" id="{99E88DFB-9996-4547-AF29-F8FCDFDBCB1A}"/>
              </a:ext>
            </a:extLst>
          </p:cNvPr>
          <p:cNvSpPr>
            <a:spLocks xmlns:a="http://schemas.openxmlformats.org/drawingml/2006/main" noGrp="1"/>
          </p:cNvSpPr>
          <p:nvPr/>
        </p:nvSpPr>
        <p:spPr>
          <a:xfrm xmlns:a="http://schemas.openxmlformats.org/drawingml/2006/main">
            <a:off x="685800" y="59436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546875"/>
                </a:solidFill>
                <a:latin typeface="Arial"/>
                <a:ea typeface="Arial"/>
                <a:cs typeface="Arial"/>
              </a:defRPr>
            </a:pPr>
            <a:r>
              <a:rPr sz="2025" b="0">
                <a:solidFill>
                  <a:srgbClr val="546875"/>
                </a:solidFill>
                <a:latin typeface="Arial"/>
                <a:ea typeface="Arial"/>
                <a:cs typeface="Arial"/>
              </a:rPr>
              <a:t>Factoid: one entity   ·   List: several distinct entities</a:t>
            </a:r>
          </a:p>
        </p:txBody>
      </p:sp>
    </p:spTree>
    <p:extLst>
      <p:ext uri="{BB962C8B-B14F-4D97-AF65-F5344CB8AC3E}">
        <p14:creationId xmlns:p14="http://schemas.microsoft.com/office/powerpoint/2010/main" val="1137668972"/>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23F850D-FEF2-4EBB-9093-9AFD7E508C09}"/>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initial single-output study</a:t>
            </a:r>
          </a:p>
        </p:txBody>
      </p:sp>
      <p:sp>
        <p:nvSpPr>
          <p:cNvPr id="2" name="text-1">
            <a:extLst xmlns:a="http://schemas.openxmlformats.org/drawingml/2006/main">
              <a:ext uri="{FF2B5EF4-FFF2-40B4-BE49-F238E27FC236}">
                <a16:creationId xmlns:a16="http://schemas.microsoft.com/office/drawing/2014/main" id="{83236A4B-F34A-4A22-8A23-4F705C8F5CB7}"/>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Project-reported pilot finding</a:t>
            </a:r>
          </a:p>
        </p:txBody>
      </p:sp>
      <p:sp>
        <p:nvSpPr>
          <p:cNvPr id="3" name="text-2">
            <a:extLst xmlns:a="http://schemas.openxmlformats.org/drawingml/2006/main">
              <a:ext uri="{FF2B5EF4-FFF2-40B4-BE49-F238E27FC236}">
                <a16:creationId xmlns:a16="http://schemas.microsoft.com/office/drawing/2014/main" id="{7CC6B51D-BFE5-4C83-93DF-827195CD50D0}"/>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801BF576-ACED-4F9B-A304-8179625F365B}"/>
              </a:ext>
            </a:extLst>
          </p:cNvPr>
          <p:cNvSpPr>
            <a:spLocks xmlns:a="http://schemas.openxmlformats.org/drawingml/2006/main" noGrp="1"/>
          </p:cNvSpPr>
          <p:nvPr/>
        </p:nvSpPr>
        <p:spPr>
          <a:xfrm xmlns:a="http://schemas.openxmlformats.org/drawingml/2006/main">
            <a:off x="685800" y="22193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B7462B21-DF38-4845-A88A-21B87AF9F2C9}"/>
              </a:ext>
            </a:extLst>
          </p:cNvPr>
          <p:cNvSpPr>
            <a:spLocks xmlns:a="http://schemas.openxmlformats.org/drawingml/2006/main" noGrp="1"/>
          </p:cNvSpPr>
          <p:nvPr/>
        </p:nvSpPr>
        <p:spPr>
          <a:xfrm xmlns:a="http://schemas.openxmlformats.org/drawingml/2006/main">
            <a:off x="1809750" y="2095500"/>
            <a:ext cx="361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Single answer</a:t>
            </a:r>
          </a:p>
        </p:txBody>
      </p:sp>
      <p:sp>
        <p:nvSpPr>
          <p:cNvPr id="6" name="text-5">
            <a:extLst xmlns:a="http://schemas.openxmlformats.org/drawingml/2006/main">
              <a:ext uri="{FF2B5EF4-FFF2-40B4-BE49-F238E27FC236}">
                <a16:creationId xmlns:a16="http://schemas.microsoft.com/office/drawing/2014/main" id="{12F147DD-3852-4FCA-8AB4-BB4AD6D95AD7}"/>
              </a:ext>
            </a:extLst>
          </p:cNvPr>
          <p:cNvSpPr>
            <a:spLocks xmlns:a="http://schemas.openxmlformats.org/drawingml/2006/main" noGrp="1"/>
          </p:cNvSpPr>
          <p:nvPr/>
        </p:nvSpPr>
        <p:spPr>
          <a:xfrm xmlns:a="http://schemas.openxmlformats.org/drawingml/2006/main">
            <a:off x="5905500" y="210502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response commits to one expression.</a:t>
            </a:r>
          </a:p>
        </p:txBody>
      </p:sp>
      <p:sp>
        <p:nvSpPr>
          <p:cNvPr id="7" name="text-6">
            <a:extLst xmlns:a="http://schemas.openxmlformats.org/drawingml/2006/main">
              <a:ext uri="{FF2B5EF4-FFF2-40B4-BE49-F238E27FC236}">
                <a16:creationId xmlns:a16="http://schemas.microsoft.com/office/drawing/2014/main" id="{815EBD7A-572F-407A-9320-416278707F31}"/>
              </a:ext>
            </a:extLst>
          </p:cNvPr>
          <p:cNvSpPr>
            <a:spLocks xmlns:a="http://schemas.openxmlformats.org/drawingml/2006/main" noGrp="1"/>
          </p:cNvSpPr>
          <p:nvPr/>
        </p:nvSpPr>
        <p:spPr>
          <a:xfrm xmlns:a="http://schemas.openxmlformats.org/drawingml/2006/main">
            <a:off x="685800" y="34766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2A6DFB75-43B5-4489-8540-D9F2A9D1EF25}"/>
              </a:ext>
            </a:extLst>
          </p:cNvPr>
          <p:cNvSpPr>
            <a:spLocks xmlns:a="http://schemas.openxmlformats.org/drawingml/2006/main" noGrp="1"/>
          </p:cNvSpPr>
          <p:nvPr/>
        </p:nvSpPr>
        <p:spPr>
          <a:xfrm xmlns:a="http://schemas.openxmlformats.org/drawingml/2006/main">
            <a:off x="1809750" y="3352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SFT improves scores</a:t>
            </a:r>
          </a:p>
        </p:txBody>
      </p:sp>
      <p:sp>
        <p:nvSpPr>
          <p:cNvPr id="9" name="text-8">
            <a:extLst xmlns:a="http://schemas.openxmlformats.org/drawingml/2006/main">
              <a:ext uri="{FF2B5EF4-FFF2-40B4-BE49-F238E27FC236}">
                <a16:creationId xmlns:a16="http://schemas.microsoft.com/office/drawing/2014/main" id="{0A4CBADD-E13A-469E-BAE9-7071229921BF}"/>
              </a:ext>
            </a:extLst>
          </p:cNvPr>
          <p:cNvSpPr>
            <a:spLocks xmlns:a="http://schemas.openxmlformats.org/drawingml/2006/main" noGrp="1"/>
          </p:cNvSpPr>
          <p:nvPr/>
        </p:nvSpPr>
        <p:spPr>
          <a:xfrm xmlns:a="http://schemas.openxmlformats.org/drawingml/2006/main">
            <a:off x="5905500" y="33623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Learn from supervised target answers.</a:t>
            </a:r>
          </a:p>
        </p:txBody>
      </p:sp>
      <p:sp>
        <p:nvSpPr>
          <p:cNvPr id="10" name="text-9">
            <a:extLst xmlns:a="http://schemas.openxmlformats.org/drawingml/2006/main">
              <a:ext uri="{FF2B5EF4-FFF2-40B4-BE49-F238E27FC236}">
                <a16:creationId xmlns:a16="http://schemas.microsoft.com/office/drawing/2014/main" id="{46744131-48C0-4F2C-A542-8BAA696FAEEB}"/>
              </a:ext>
            </a:extLst>
          </p:cNvPr>
          <p:cNvSpPr>
            <a:spLocks xmlns:a="http://schemas.openxmlformats.org/drawingml/2006/main" noGrp="1"/>
          </p:cNvSpPr>
          <p:nvPr/>
        </p:nvSpPr>
        <p:spPr>
          <a:xfrm xmlns:a="http://schemas.openxmlformats.org/drawingml/2006/main">
            <a:off x="685800" y="47339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087F8C"/>
                </a:solidFill>
                <a:latin typeface="Arial"/>
                <a:ea typeface="Arial"/>
                <a:cs typeface="Arial"/>
              </a:defRPr>
            </a:pPr>
            <a:r>
              <a:rPr sz="3600" b="1">
                <a:solidFill>
                  <a:srgbClr val="087F8C"/>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6C90A6FC-99E6-4600-9909-E55A6EE835F4}"/>
              </a:ext>
            </a:extLst>
          </p:cNvPr>
          <p:cNvSpPr>
            <a:spLocks xmlns:a="http://schemas.openxmlformats.org/drawingml/2006/main" noGrp="1"/>
          </p:cNvSpPr>
          <p:nvPr/>
        </p:nvSpPr>
        <p:spPr>
          <a:xfrm xmlns:a="http://schemas.openxmlformats.org/drawingml/2006/main">
            <a:off x="1809750" y="461010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DPO adds marginal gains</a:t>
            </a:r>
          </a:p>
        </p:txBody>
      </p:sp>
      <p:sp>
        <p:nvSpPr>
          <p:cNvPr id="12" name="text-11">
            <a:extLst xmlns:a="http://schemas.openxmlformats.org/drawingml/2006/main">
              <a:ext uri="{FF2B5EF4-FFF2-40B4-BE49-F238E27FC236}">
                <a16:creationId xmlns:a16="http://schemas.microsoft.com/office/drawing/2014/main" id="{3B65015A-B278-4843-A965-91D0CC99FAEA}"/>
              </a:ext>
            </a:extLst>
          </p:cNvPr>
          <p:cNvSpPr>
            <a:spLocks xmlns:a="http://schemas.openxmlformats.org/drawingml/2006/main" noGrp="1"/>
          </p:cNvSpPr>
          <p:nvPr/>
        </p:nvSpPr>
        <p:spPr>
          <a:xfrm xmlns:a="http://schemas.openxmlformats.org/drawingml/2006/main">
            <a:off x="6667500" y="4619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Learn to prefer better responses over worse ones.</a:t>
            </a:r>
          </a:p>
        </p:txBody>
      </p:sp>
      <p:sp>
        <p:nvSpPr>
          <p:cNvPr id="13" name="text-12">
            <a:extLst xmlns:a="http://schemas.openxmlformats.org/drawingml/2006/main">
              <a:ext uri="{FF2B5EF4-FFF2-40B4-BE49-F238E27FC236}">
                <a16:creationId xmlns:a16="http://schemas.microsoft.com/office/drawing/2014/main" id="{0AB3B575-B984-40F9-9296-3F262FBBC0B0}"/>
              </a:ext>
            </a:extLst>
          </p:cNvPr>
          <p:cNvSpPr>
            <a:spLocks xmlns:a="http://schemas.openxmlformats.org/drawingml/2006/main" noGrp="1"/>
          </p:cNvSpPr>
          <p:nvPr/>
        </p:nvSpPr>
        <p:spPr>
          <a:xfrm xmlns:a="http://schemas.openxmlformats.org/drawingml/2006/main">
            <a:off x="685800" y="58293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What limitation remains in the answer formulation?</a:t>
            </a:r>
          </a:p>
        </p:txBody>
      </p:sp>
    </p:spTree>
    <p:extLst>
      <p:ext uri="{BB962C8B-B14F-4D97-AF65-F5344CB8AC3E}">
        <p14:creationId xmlns:p14="http://schemas.microsoft.com/office/powerpoint/2010/main" val="1831909385"/>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EF2F0E5-85CC-42AC-91B5-4C0A97EF153E}"/>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A correct concept can miss exact-answer credit</a:t>
            </a:r>
          </a:p>
        </p:txBody>
      </p:sp>
      <p:sp>
        <p:nvSpPr>
          <p:cNvPr id="2" name="text-1">
            <a:extLst xmlns:a="http://schemas.openxmlformats.org/drawingml/2006/main">
              <a:ext uri="{FF2B5EF4-FFF2-40B4-BE49-F238E27FC236}">
                <a16:creationId xmlns:a16="http://schemas.microsoft.com/office/drawing/2014/main" id="{4500B24D-7AF1-49CC-8C31-EA46AA70F8C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160 factoid development questions</a:t>
            </a:r>
          </a:p>
        </p:txBody>
      </p:sp>
      <p:sp>
        <p:nvSpPr>
          <p:cNvPr id="3" name="text-2">
            <a:extLst xmlns:a="http://schemas.openxmlformats.org/drawingml/2006/main">
              <a:ext uri="{FF2B5EF4-FFF2-40B4-BE49-F238E27FC236}">
                <a16:creationId xmlns:a16="http://schemas.microsoft.com/office/drawing/2014/main" id="{B35E920D-C211-4064-9F4B-224FE036AAC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4</a:t>
            </a:r>
          </a:p>
        </p:txBody>
      </p:sp>
      <p:graphicFrame>
        <p:nvGraphicFramePr>
          <p:cNvPr id="14" name="Chart"/>
          <p:cNvGraphicFramePr/>
          <p:nvPr/>
        </p:nvGraphicFramePr>
        <p:xfrm>
          <a:off xmlns:a="http://schemas.openxmlformats.org/drawingml/2006/main" x="609600" y="2019300"/>
          <a:ext xmlns:a="http://schemas.openxmlformats.org/drawingml/2006/main" cx="6667500" cy="3695700"/>
        </p:xfrm>
        <a:graphic xmlns:a="http://schemas.openxmlformats.org/drawingml/2006/main">
          <a:graphicData uri="http://schemas.openxmlformats.org/drawingml/2006/chart">
            <c:chart xmlns:r="http://schemas.openxmlformats.org/officeDocument/2006/relationships" xmlns:c="http://schemas.openxmlformats.org/drawingml/2006/chart" r:id="Rfe3ab526dbff4a15"/>
          </a:graphicData>
        </a:graphic>
      </p:graphicFrame>
      <p:sp>
        <p:nvSpPr>
          <p:cNvPr id="5" name="text-3">
            <a:extLst xmlns:a="http://schemas.openxmlformats.org/drawingml/2006/main">
              <a:ext uri="{FF2B5EF4-FFF2-40B4-BE49-F238E27FC236}">
                <a16:creationId xmlns:a16="http://schemas.microsoft.com/office/drawing/2014/main" id="{DB2A4581-B9DE-42A2-8317-BEC660F565E0}"/>
              </a:ext>
            </a:extLst>
          </p:cNvPr>
          <p:cNvSpPr>
            <a:spLocks xmlns:a="http://schemas.openxmlformats.org/drawingml/2006/main" noGrp="1"/>
          </p:cNvSpPr>
          <p:nvPr/>
        </p:nvSpPr>
        <p:spPr>
          <a:xfrm xmlns:a="http://schemas.openxmlformats.org/drawingml/2006/main">
            <a:off x="7772400" y="209550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Same concept,</a:t>
            </a:r>
          </a:p>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different expression</a:t>
            </a:r>
          </a:p>
        </p:txBody>
      </p:sp>
      <p:sp>
        <p:nvSpPr>
          <p:cNvPr id="6" name="text-4">
            <a:extLst xmlns:a="http://schemas.openxmlformats.org/drawingml/2006/main">
              <a:ext uri="{FF2B5EF4-FFF2-40B4-BE49-F238E27FC236}">
                <a16:creationId xmlns:a16="http://schemas.microsoft.com/office/drawing/2014/main" id="{8A751925-7ACB-4101-983C-491060A52F21}"/>
              </a:ext>
            </a:extLst>
          </p:cNvPr>
          <p:cNvSpPr>
            <a:spLocks xmlns:a="http://schemas.openxmlformats.org/drawingml/2006/main" noGrp="1"/>
          </p:cNvSpPr>
          <p:nvPr/>
        </p:nvSpPr>
        <p:spPr>
          <a:xfrm xmlns:a="http://schemas.openxmlformats.org/drawingml/2006/main">
            <a:off x="7772400" y="32575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Model response</a:t>
            </a:r>
          </a:p>
        </p:txBody>
      </p:sp>
      <p:sp>
        <p:nvSpPr>
          <p:cNvPr id="7" name="text-5">
            <a:extLst xmlns:a="http://schemas.openxmlformats.org/drawingml/2006/main">
              <a:ext uri="{FF2B5EF4-FFF2-40B4-BE49-F238E27FC236}">
                <a16:creationId xmlns:a16="http://schemas.microsoft.com/office/drawing/2014/main" id="{D07BB781-A096-4169-8895-737F15C51852}"/>
              </a:ext>
            </a:extLst>
          </p:cNvPr>
          <p:cNvSpPr>
            <a:spLocks xmlns:a="http://schemas.openxmlformats.org/drawingml/2006/main" noGrp="1"/>
          </p:cNvSpPr>
          <p:nvPr/>
        </p:nvSpPr>
        <p:spPr>
          <a:xfrm xmlns:a="http://schemas.openxmlformats.org/drawingml/2006/main">
            <a:off x="7772400" y="36480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epidermal growth factor receptor</a:t>
            </a:r>
          </a:p>
        </p:txBody>
      </p:sp>
      <p:sp>
        <p:nvSpPr>
          <p:cNvPr id="8" name="text-6">
            <a:extLst xmlns:a="http://schemas.openxmlformats.org/drawingml/2006/main">
              <a:ext uri="{FF2B5EF4-FFF2-40B4-BE49-F238E27FC236}">
                <a16:creationId xmlns:a16="http://schemas.microsoft.com/office/drawing/2014/main" id="{A08DBA14-9713-4991-9A2F-6C696518EC89}"/>
              </a:ext>
            </a:extLst>
          </p:cNvPr>
          <p:cNvSpPr>
            <a:spLocks xmlns:a="http://schemas.openxmlformats.org/drawingml/2006/main" noGrp="1"/>
          </p:cNvSpPr>
          <p:nvPr/>
        </p:nvSpPr>
        <p:spPr>
          <a:xfrm xmlns:a="http://schemas.openxmlformats.org/drawingml/2006/main">
            <a:off x="7772400" y="45624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Accepted alias</a:t>
            </a:r>
          </a:p>
        </p:txBody>
      </p:sp>
      <p:sp>
        <p:nvSpPr>
          <p:cNvPr id="9" name="text-7">
            <a:extLst xmlns:a="http://schemas.openxmlformats.org/drawingml/2006/main">
              <a:ext uri="{FF2B5EF4-FFF2-40B4-BE49-F238E27FC236}">
                <a16:creationId xmlns:a16="http://schemas.microsoft.com/office/drawing/2014/main" id="{D2230897-1DF0-4671-A4D3-6F99486F6C69}"/>
              </a:ext>
            </a:extLst>
          </p:cNvPr>
          <p:cNvSpPr>
            <a:spLocks xmlns:a="http://schemas.openxmlformats.org/drawingml/2006/main" noGrp="1"/>
          </p:cNvSpPr>
          <p:nvPr/>
        </p:nvSpPr>
        <p:spPr>
          <a:xfrm xmlns:a="http://schemas.openxmlformats.org/drawingml/2006/main">
            <a:off x="7772400" y="495300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C"/>
                </a:solidFill>
                <a:latin typeface="Arial"/>
                <a:ea typeface="Arial"/>
                <a:cs typeface="Arial"/>
              </a:defRPr>
            </a:pPr>
            <a:r>
              <a:rPr sz="2325" b="1">
                <a:solidFill>
                  <a:srgbClr val="087F8C"/>
                </a:solidFill>
                <a:latin typeface="Arial"/>
                <a:ea typeface="Arial"/>
                <a:cs typeface="Arial"/>
              </a:rPr>
              <a:t>Epidermal growth factor receptor (EGFR)</a:t>
            </a:r>
          </a:p>
        </p:txBody>
      </p:sp>
      <p:sp>
        <p:nvSpPr>
          <p:cNvPr id="10" name="text-8">
            <a:extLst xmlns:a="http://schemas.openxmlformats.org/drawingml/2006/main">
              <a:ext uri="{FF2B5EF4-FFF2-40B4-BE49-F238E27FC236}">
                <a16:creationId xmlns:a16="http://schemas.microsoft.com/office/drawing/2014/main" id="{61BF3E13-2BAE-4730-95B6-C78D89B7C272}"/>
              </a:ext>
            </a:extLst>
          </p:cNvPr>
          <p:cNvSpPr>
            <a:spLocks xmlns:a="http://schemas.openxmlformats.org/drawingml/2006/main" noGrp="1"/>
          </p:cNvSpPr>
          <p:nvPr/>
        </p:nvSpPr>
        <p:spPr>
          <a:xfrm xmlns:a="http://schemas.openxmlformats.org/drawingml/2006/main">
            <a:off x="685800" y="60483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Semantic scores use an LLM judge; human auditing is planned.</a:t>
            </a:r>
          </a:p>
        </p:txBody>
      </p:sp>
    </p:spTree>
    <p:extLst>
      <p:ext uri="{BB962C8B-B14F-4D97-AF65-F5344CB8AC3E}">
        <p14:creationId xmlns:p14="http://schemas.microsoft.com/office/powerpoint/2010/main" val="1235086286"/>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72F14AA-7B8B-48F8-98AE-5099B033647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smaller model adds complementary answers</a:t>
            </a:r>
          </a:p>
        </p:txBody>
      </p:sp>
      <p:sp>
        <p:nvSpPr>
          <p:cNvPr id="2" name="text-1">
            <a:extLst xmlns:a="http://schemas.openxmlformats.org/drawingml/2006/main">
              <a:ext uri="{FF2B5EF4-FFF2-40B4-BE49-F238E27FC236}">
                <a16:creationId xmlns:a16="http://schemas.microsoft.com/office/drawing/2014/main" id="{1D0F197B-DE94-492B-9623-A17F35158DA3}"/>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official exact correctness on the same 160 questions</a:t>
            </a:r>
          </a:p>
        </p:txBody>
      </p:sp>
      <p:sp>
        <p:nvSpPr>
          <p:cNvPr id="3" name="text-2">
            <a:extLst xmlns:a="http://schemas.openxmlformats.org/drawingml/2006/main">
              <a:ext uri="{FF2B5EF4-FFF2-40B4-BE49-F238E27FC236}">
                <a16:creationId xmlns:a16="http://schemas.microsoft.com/office/drawing/2014/main" id="{381D86BC-EFB4-4292-A63D-3F909F0C0C9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5</a:t>
            </a:r>
          </a:p>
        </p:txBody>
      </p:sp>
      <p:graphicFrame>
        <p:nvGraphicFramePr>
          <p:cNvPr id="12" name="Chart"/>
          <p:cNvGraphicFramePr/>
          <p:nvPr/>
        </p:nvGraphicFramePr>
        <p:xfrm>
          <a:off xmlns:a="http://schemas.openxmlformats.org/drawingml/2006/main" x="685800" y="1971675"/>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efe0800aaa1c4d12"/>
          </a:graphicData>
        </a:graphic>
      </p:graphicFrame>
      <p:sp>
        <p:nvSpPr>
          <p:cNvPr id="5" name="text-3">
            <a:extLst xmlns:a="http://schemas.openxmlformats.org/drawingml/2006/main">
              <a:ext uri="{FF2B5EF4-FFF2-40B4-BE49-F238E27FC236}">
                <a16:creationId xmlns:a16="http://schemas.microsoft.com/office/drawing/2014/main" id="{3D8F5A47-7833-4856-9C44-F646BD622359}"/>
              </a:ext>
            </a:extLst>
          </p:cNvPr>
          <p:cNvSpPr>
            <a:spLocks xmlns:a="http://schemas.openxmlformats.org/drawingml/2006/main" noGrp="1"/>
          </p:cNvSpPr>
          <p:nvPr/>
        </p:nvSpPr>
        <p:spPr>
          <a:xfrm xmlns:a="http://schemas.openxmlformats.org/drawingml/2006/main">
            <a:off x="8572500" y="2190750"/>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600" b="1">
                <a:solidFill>
                  <a:srgbClr val="087F8C"/>
                </a:solidFill>
                <a:latin typeface="Arial"/>
                <a:ea typeface="Arial"/>
                <a:cs typeface="Arial"/>
              </a:defRPr>
            </a:pPr>
            <a:r>
              <a:rPr sz="6600" b="1">
                <a:solidFill>
                  <a:srgbClr val="087F8C"/>
                </a:solidFill>
                <a:latin typeface="Arial"/>
                <a:ea typeface="Arial"/>
                <a:cs typeface="Arial"/>
              </a:rPr>
              <a:t>14</a:t>
            </a:r>
          </a:p>
        </p:txBody>
      </p:sp>
      <p:sp>
        <p:nvSpPr>
          <p:cNvPr id="6" name="text-4">
            <a:extLst xmlns:a="http://schemas.openxmlformats.org/drawingml/2006/main">
              <a:ext uri="{FF2B5EF4-FFF2-40B4-BE49-F238E27FC236}">
                <a16:creationId xmlns:a16="http://schemas.microsoft.com/office/drawing/2014/main" id="{B31B9A57-C7E0-4BE6-B794-6C235E9D2B66}"/>
              </a:ext>
            </a:extLst>
          </p:cNvPr>
          <p:cNvSpPr>
            <a:spLocks xmlns:a="http://schemas.openxmlformats.org/drawingml/2006/main" noGrp="1"/>
          </p:cNvSpPr>
          <p:nvPr/>
        </p:nvSpPr>
        <p:spPr>
          <a:xfrm xmlns:a="http://schemas.openxmlformats.org/drawingml/2006/main">
            <a:off x="8572500" y="33432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correct only</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for the 0.5B model</a:t>
            </a:r>
          </a:p>
        </p:txBody>
      </p:sp>
      <p:sp>
        <p:nvSpPr>
          <p:cNvPr id="7" name="text-5">
            <a:extLst xmlns:a="http://schemas.openxmlformats.org/drawingml/2006/main">
              <a:ext uri="{FF2B5EF4-FFF2-40B4-BE49-F238E27FC236}">
                <a16:creationId xmlns:a16="http://schemas.microsoft.com/office/drawing/2014/main" id="{20700AD2-F389-4580-BE01-0F909A9BF2A0}"/>
              </a:ext>
            </a:extLst>
          </p:cNvPr>
          <p:cNvSpPr>
            <a:spLocks xmlns:a="http://schemas.openxmlformats.org/drawingml/2006/main" noGrp="1"/>
          </p:cNvSpPr>
          <p:nvPr/>
        </p:nvSpPr>
        <p:spPr>
          <a:xfrm xmlns:a="http://schemas.openxmlformats.org/drawingml/2006/main">
            <a:off x="685800" y="541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Example: Which enzyme is deficient in Krabbe disease?</a:t>
            </a:r>
          </a:p>
        </p:txBody>
      </p:sp>
      <p:sp>
        <p:nvSpPr>
          <p:cNvPr id="8" name="text-6">
            <a:extLst xmlns:a="http://schemas.openxmlformats.org/drawingml/2006/main">
              <a:ext uri="{FF2B5EF4-FFF2-40B4-BE49-F238E27FC236}">
                <a16:creationId xmlns:a16="http://schemas.microsoft.com/office/drawing/2014/main" id="{38B1308B-D033-4837-A022-643E7ECFD628}"/>
              </a:ext>
            </a:extLst>
          </p:cNvPr>
          <p:cNvSpPr>
            <a:spLocks xmlns:a="http://schemas.openxmlformats.org/drawingml/2006/main" noGrp="1"/>
          </p:cNvSpPr>
          <p:nvPr/>
        </p:nvSpPr>
        <p:spPr>
          <a:xfrm xmlns:a="http://schemas.openxmlformats.org/drawingml/2006/main">
            <a:off x="685800" y="59055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0.5B: galactocerebrosidase   |   3B: beta-galactosidase</a:t>
            </a:r>
          </a:p>
        </p:txBody>
      </p:sp>
    </p:spTree>
    <p:extLst>
      <p:ext uri="{BB962C8B-B14F-4D97-AF65-F5344CB8AC3E}">
        <p14:creationId xmlns:p14="http://schemas.microsoft.com/office/powerpoint/2010/main" val="1815724944"/>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545A080-F177-4EDD-9B7A-06AB4C09449F}"/>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Answer expansion separates generation from selection</a:t>
            </a:r>
          </a:p>
        </p:txBody>
      </p:sp>
      <p:sp>
        <p:nvSpPr>
          <p:cNvPr id="2" name="text-1">
            <a:extLst xmlns:a="http://schemas.openxmlformats.org/drawingml/2006/main">
              <a:ext uri="{FF2B5EF4-FFF2-40B4-BE49-F238E27FC236}">
                <a16:creationId xmlns:a16="http://schemas.microsoft.com/office/drawing/2014/main" id="{37017CE1-C912-4500-B9C2-F8B111CDF67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Proposed architecture · illustrative candidates for the real gefitinib question</a:t>
            </a:r>
          </a:p>
        </p:txBody>
      </p:sp>
      <p:sp>
        <p:nvSpPr>
          <p:cNvPr id="3" name="text-2">
            <a:extLst xmlns:a="http://schemas.openxmlformats.org/drawingml/2006/main">
              <a:ext uri="{FF2B5EF4-FFF2-40B4-BE49-F238E27FC236}">
                <a16:creationId xmlns:a16="http://schemas.microsoft.com/office/drawing/2014/main" id="{8DCF34DE-5003-4A07-AB13-41C153A12D3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6</a:t>
            </a:r>
          </a:p>
        </p:txBody>
      </p:sp>
      <p:sp>
        <p:nvSpPr>
          <p:cNvPr id="4" name="text-3">
            <a:extLst xmlns:a="http://schemas.openxmlformats.org/drawingml/2006/main">
              <a:ext uri="{FF2B5EF4-FFF2-40B4-BE49-F238E27FC236}">
                <a16:creationId xmlns:a16="http://schemas.microsoft.com/office/drawing/2014/main" id="{A34C7874-CDAC-4B7B-955F-8C67283105E3}"/>
              </a:ext>
            </a:extLst>
          </p:cNvPr>
          <p:cNvSpPr>
            <a:spLocks xmlns:a="http://schemas.openxmlformats.org/drawingml/2006/main" noGrp="1"/>
          </p:cNvSpPr>
          <p:nvPr/>
        </p:nvSpPr>
        <p:spPr>
          <a:xfrm xmlns:a="http://schemas.openxmlformats.org/drawingml/2006/main">
            <a:off x="685800" y="20478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32C40"/>
                </a:solidFill>
                <a:latin typeface="Arial"/>
                <a:ea typeface="Arial"/>
                <a:cs typeface="Arial"/>
              </a:defRPr>
            </a:pPr>
            <a:r>
              <a:rPr sz="2625" b="1">
                <a:solidFill>
                  <a:srgbClr val="132C40"/>
                </a:solidFill>
                <a:latin typeface="Arial"/>
                <a:ea typeface="Arial"/>
                <a:cs typeface="Arial"/>
              </a:rPr>
              <a:t>Question + snippets</a:t>
            </a:r>
          </a:p>
        </p:txBody>
      </p:sp>
      <p:sp>
        <p:nvSpPr>
          <p:cNvPr id="5" name="text-4">
            <a:extLst xmlns:a="http://schemas.openxmlformats.org/drawingml/2006/main">
              <a:ext uri="{FF2B5EF4-FFF2-40B4-BE49-F238E27FC236}">
                <a16:creationId xmlns:a16="http://schemas.microsoft.com/office/drawing/2014/main" id="{E204F436-2A86-42C6-8338-366DC773EDDD}"/>
              </a:ext>
            </a:extLst>
          </p:cNvPr>
          <p:cNvSpPr>
            <a:spLocks xmlns:a="http://schemas.openxmlformats.org/drawingml/2006/main" noGrp="1"/>
          </p:cNvSpPr>
          <p:nvPr/>
        </p:nvSpPr>
        <p:spPr>
          <a:xfrm xmlns:a="http://schemas.openxmlformats.org/drawingml/2006/main">
            <a:off x="685800" y="28575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75" b="1">
                <a:solidFill>
                  <a:srgbClr val="087F8C"/>
                </a:solidFill>
                <a:latin typeface="Arial"/>
                <a:ea typeface="Arial"/>
                <a:cs typeface="Arial"/>
              </a:defRPr>
            </a:pPr>
            <a:r>
              <a:rPr sz="3675" b="1">
                <a:solidFill>
                  <a:srgbClr val="087F8C"/>
                </a:solidFill>
                <a:latin typeface="Arial"/>
                <a:ea typeface="Arial"/>
                <a:cs typeface="Arial"/>
              </a:rPr>
              <a:t>Expand  →  Pool  →  Validate  →  Rank</a:t>
            </a:r>
          </a:p>
        </p:txBody>
      </p:sp>
      <p:sp>
        <p:nvSpPr>
          <p:cNvPr id="6" name="text-5">
            <a:extLst xmlns:a="http://schemas.openxmlformats.org/drawingml/2006/main">
              <a:ext uri="{FF2B5EF4-FFF2-40B4-BE49-F238E27FC236}">
                <a16:creationId xmlns:a16="http://schemas.microsoft.com/office/drawing/2014/main" id="{40100D43-E44B-48DE-AF2D-C15A2A86FF9F}"/>
              </a:ext>
            </a:extLst>
          </p:cNvPr>
          <p:cNvSpPr>
            <a:spLocks xmlns:a="http://schemas.openxmlformats.org/drawingml/2006/main" noGrp="1"/>
          </p:cNvSpPr>
          <p:nvPr/>
        </p:nvSpPr>
        <p:spPr>
          <a:xfrm xmlns:a="http://schemas.openxmlformats.org/drawingml/2006/main">
            <a:off x="685800" y="39243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0">
                <a:solidFill>
                  <a:srgbClr val="132C40"/>
                </a:solidFill>
                <a:latin typeface="Arial"/>
                <a:ea typeface="Arial"/>
                <a:cs typeface="Arial"/>
              </a:defRPr>
            </a:pPr>
            <a:r>
              <a:rPr sz="2475" b="0">
                <a:solidFill>
                  <a:srgbClr val="132C40"/>
                </a:solidFill>
                <a:latin typeface="Arial"/>
                <a:ea typeface="Arial"/>
                <a:cs typeface="Arial"/>
              </a:rPr>
              <a:t>epidermal growth factor receptor</a:t>
            </a:r>
          </a:p>
          <a:p xmlns:a="http://schemas.openxmlformats.org/drawingml/2006/main">
            <a:pPr algn="l">
              <a:lnSpc>
                <a:spcPct val="112000"/>
              </a:lnSpc>
              <a:buNone/>
              <a:defRPr sz="2475" b="0">
                <a:solidFill>
                  <a:srgbClr val="132C40"/>
                </a:solidFill>
                <a:latin typeface="Arial"/>
                <a:ea typeface="Arial"/>
                <a:cs typeface="Arial"/>
              </a:defRPr>
            </a:pPr>
            <a:r>
              <a:rPr sz="2475" b="0">
                <a:solidFill>
                  <a:srgbClr val="132C40"/>
                </a:solidFill>
                <a:latin typeface="Arial"/>
                <a:ea typeface="Arial"/>
                <a:cs typeface="Arial"/>
              </a:rPr>
              <a:t>EGFR</a:t>
            </a:r>
          </a:p>
          <a:p xmlns:a="http://schemas.openxmlformats.org/drawingml/2006/main">
            <a:pPr algn="l">
              <a:lnSpc>
                <a:spcPct val="112000"/>
              </a:lnSpc>
              <a:buNone/>
              <a:defRPr sz="2475" b="0">
                <a:solidFill>
                  <a:srgbClr val="132C40"/>
                </a:solidFill>
                <a:latin typeface="Arial"/>
                <a:ea typeface="Arial"/>
                <a:cs typeface="Arial"/>
              </a:defRPr>
            </a:pPr>
            <a:r>
              <a:rPr sz="2475" b="0">
                <a:solidFill>
                  <a:srgbClr val="132C40"/>
                </a:solidFill>
                <a:latin typeface="Arial"/>
                <a:ea typeface="Arial"/>
                <a:cs typeface="Arial"/>
              </a:rPr>
              <a:t>Epidermal growth factor receptor (EGFR)</a:t>
            </a:r>
          </a:p>
        </p:txBody>
      </p:sp>
      <p:sp>
        <p:nvSpPr>
          <p:cNvPr id="7" name="text-6">
            <a:extLst xmlns:a="http://schemas.openxmlformats.org/drawingml/2006/main">
              <a:ext uri="{FF2B5EF4-FFF2-40B4-BE49-F238E27FC236}">
                <a16:creationId xmlns:a16="http://schemas.microsoft.com/office/drawing/2014/main" id="{F644D418-EAFF-491A-AC0E-0DB0700AE4A9}"/>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Generate useful alternatives, then select the final answer.</a:t>
            </a:r>
          </a:p>
        </p:txBody>
      </p:sp>
      <p:sp>
        <p:nvSpPr>
          <p:cNvPr id="8" name="text-7">
            <a:extLst xmlns:a="http://schemas.openxmlformats.org/drawingml/2006/main">
              <a:ext uri="{FF2B5EF4-FFF2-40B4-BE49-F238E27FC236}">
                <a16:creationId xmlns:a16="http://schemas.microsoft.com/office/drawing/2014/main" id="{60BEF6B9-50D0-441B-82B3-846FF8C2CB5A}"/>
              </a:ext>
            </a:extLst>
          </p:cNvPr>
          <p:cNvSpPr>
            <a:spLocks xmlns:a="http://schemas.openxmlformats.org/drawingml/2006/main" noGrp="1"/>
          </p:cNvSpPr>
          <p:nvPr/>
        </p:nvSpPr>
        <p:spPr>
          <a:xfrm xmlns:a="http://schemas.openxmlformats.org/drawingml/2006/main">
            <a:off x="685800" y="62388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Gold aliases supply offline labels and scores; they stay out of inference prompts.</a:t>
            </a:r>
          </a:p>
        </p:txBody>
      </p:sp>
    </p:spTree>
    <p:extLst>
      <p:ext uri="{BB962C8B-B14F-4D97-AF65-F5344CB8AC3E}">
        <p14:creationId xmlns:p14="http://schemas.microsoft.com/office/powerpoint/2010/main" val="1713459846"/>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13DDF2-2AF0-4341-8EA3-409DA19069B1}"/>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Pooling increases pilot candidate coverage</a:t>
            </a:r>
          </a:p>
        </p:txBody>
      </p:sp>
      <p:sp>
        <p:nvSpPr>
          <p:cNvPr id="2" name="text-1">
            <a:extLst xmlns:a="http://schemas.openxmlformats.org/drawingml/2006/main">
              <a:ext uri="{FF2B5EF4-FFF2-40B4-BE49-F238E27FC236}">
                <a16:creationId xmlns:a16="http://schemas.microsoft.com/office/drawing/2014/main" id="{079A2EF7-D3C1-4D27-B200-D3F1DA16BF6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expansion pilot · no additional BioASQ-specific SFT or DPO</a:t>
            </a:r>
          </a:p>
        </p:txBody>
      </p:sp>
      <p:sp>
        <p:nvSpPr>
          <p:cNvPr id="3" name="text-2">
            <a:extLst xmlns:a="http://schemas.openxmlformats.org/drawingml/2006/main">
              <a:ext uri="{FF2B5EF4-FFF2-40B4-BE49-F238E27FC236}">
                <a16:creationId xmlns:a16="http://schemas.microsoft.com/office/drawing/2014/main" id="{90087A53-4783-4F2D-B407-36282EA4A35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7</a:t>
            </a:r>
          </a:p>
        </p:txBody>
      </p:sp>
      <p:graphicFrame>
        <p:nvGraphicFramePr>
          <p:cNvPr id="11" name="Chart"/>
          <p:cNvGraphicFramePr/>
          <p:nvPr/>
        </p:nvGraphicFramePr>
        <p:xfrm>
          <a:off xmlns:a="http://schemas.openxmlformats.org/drawingml/2006/main" x="619125" y="2019300"/>
          <a:ext xmlns:a="http://schemas.openxmlformats.org/drawingml/2006/main" cx="7429500" cy="3733800"/>
        </p:xfrm>
        <a:graphic xmlns:a="http://schemas.openxmlformats.org/drawingml/2006/main">
          <a:graphicData uri="http://schemas.openxmlformats.org/drawingml/2006/chart">
            <c:chart xmlns:r="http://schemas.openxmlformats.org/officeDocument/2006/relationships" xmlns:c="http://schemas.openxmlformats.org/drawingml/2006/chart" r:id="Rcebf57b194684e20"/>
          </a:graphicData>
        </a:graphic>
      </p:graphicFrame>
      <p:sp>
        <p:nvSpPr>
          <p:cNvPr id="5" name="text-3">
            <a:extLst xmlns:a="http://schemas.openxmlformats.org/drawingml/2006/main">
              <a:ext uri="{FF2B5EF4-FFF2-40B4-BE49-F238E27FC236}">
                <a16:creationId xmlns:a16="http://schemas.microsoft.com/office/drawing/2014/main" id="{9E555661-4C50-49AE-889D-2F8833859C45}"/>
              </a:ext>
            </a:extLst>
          </p:cNvPr>
          <p:cNvSpPr>
            <a:spLocks xmlns:a="http://schemas.openxmlformats.org/drawingml/2006/main" noGrp="1"/>
          </p:cNvSpPr>
          <p:nvPr/>
        </p:nvSpPr>
        <p:spPr>
          <a:xfrm xmlns:a="http://schemas.openxmlformats.org/drawingml/2006/main">
            <a:off x="8591550" y="2324100"/>
            <a:ext cx="2933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087F8C"/>
                </a:solidFill>
                <a:latin typeface="Arial"/>
                <a:ea typeface="Arial"/>
                <a:cs typeface="Arial"/>
              </a:defRPr>
            </a:pPr>
            <a:r>
              <a:rPr sz="4125" b="1">
                <a:solidFill>
                  <a:srgbClr val="087F8C"/>
                </a:solidFill>
                <a:latin typeface="Arial"/>
                <a:ea typeface="Arial"/>
                <a:cs typeface="Arial"/>
              </a:rPr>
              <a:t>102 / 160</a:t>
            </a:r>
          </a:p>
        </p:txBody>
      </p:sp>
      <p:sp>
        <p:nvSpPr>
          <p:cNvPr id="6" name="text-4">
            <a:extLst xmlns:a="http://schemas.openxmlformats.org/drawingml/2006/main">
              <a:ext uri="{FF2B5EF4-FFF2-40B4-BE49-F238E27FC236}">
                <a16:creationId xmlns:a16="http://schemas.microsoft.com/office/drawing/2014/main" id="{9E3CFEC4-9D9F-4078-B537-3A300A4EBC83}"/>
              </a:ext>
            </a:extLst>
          </p:cNvPr>
          <p:cNvSpPr>
            <a:spLocks xmlns:a="http://schemas.openxmlformats.org/drawingml/2006/main" noGrp="1"/>
          </p:cNvSpPr>
          <p:nvPr/>
        </p:nvSpPr>
        <p:spPr>
          <a:xfrm xmlns:a="http://schemas.openxmlformats.org/drawingml/2006/main">
            <a:off x="8591550" y="3448050"/>
            <a:ext cx="29146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with an</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accepted candidate</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in the combined pool</a:t>
            </a:r>
          </a:p>
        </p:txBody>
      </p:sp>
      <p:sp>
        <p:nvSpPr>
          <p:cNvPr id="7" name="text-5">
            <a:extLst xmlns:a="http://schemas.openxmlformats.org/drawingml/2006/main">
              <a:ext uri="{FF2B5EF4-FFF2-40B4-BE49-F238E27FC236}">
                <a16:creationId xmlns:a16="http://schemas.microsoft.com/office/drawing/2014/main" id="{45C4189D-8EB4-4E3C-9CEC-D53565A71008}"/>
              </a:ext>
            </a:extLst>
          </p:cNvPr>
          <p:cNvSpPr>
            <a:spLocks xmlns:a="http://schemas.openxmlformats.org/drawingml/2006/main" noGrp="1"/>
          </p:cNvSpPr>
          <p:nvPr/>
        </p:nvSpPr>
        <p:spPr>
          <a:xfrm xmlns:a="http://schemas.openxmlformats.org/drawingml/2006/main">
            <a:off x="685800" y="5905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Pool coverage measures available answers; final ranking still needs testing.</a:t>
            </a:r>
          </a:p>
        </p:txBody>
      </p:sp>
    </p:spTree>
    <p:extLst>
      <p:ext uri="{BB962C8B-B14F-4D97-AF65-F5344CB8AC3E}">
        <p14:creationId xmlns:p14="http://schemas.microsoft.com/office/powerpoint/2010/main" val="1602688170"/>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CBC63FE-77A9-4DD5-8C93-2F6CBDE9239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next experiment isolates DPO’s contribution</a:t>
            </a:r>
          </a:p>
        </p:txBody>
      </p:sp>
      <p:sp>
        <p:nvSpPr>
          <p:cNvPr id="2" name="text-1">
            <a:extLst xmlns:a="http://schemas.openxmlformats.org/drawingml/2006/main">
              <a:ext uri="{FF2B5EF4-FFF2-40B4-BE49-F238E27FC236}">
                <a16:creationId xmlns:a16="http://schemas.microsoft.com/office/drawing/2014/main" id="{70BF7A91-7C56-471C-AE9A-74DB22E0497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Planned confirmatory comparison · same backbone and output schema</a:t>
            </a:r>
          </a:p>
        </p:txBody>
      </p:sp>
      <p:sp>
        <p:nvSpPr>
          <p:cNvPr id="3" name="text-2">
            <a:extLst xmlns:a="http://schemas.openxmlformats.org/drawingml/2006/main">
              <a:ext uri="{FF2B5EF4-FFF2-40B4-BE49-F238E27FC236}">
                <a16:creationId xmlns:a16="http://schemas.microsoft.com/office/drawing/2014/main" id="{6DF719E6-83D1-40AE-BB4D-835C1FFAB91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8</a:t>
            </a:r>
          </a:p>
        </p:txBody>
      </p:sp>
      <p:graphicFrame>
        <p:nvGraphicFramePr>
          <p:cNvPr id="10" name=""/>
          <p:cNvGraphicFramePr/>
          <p:nvPr/>
        </p:nvGraphicFramePr>
        <p:xfrm>
          <a:off xmlns:a="http://schemas.openxmlformats.org/drawingml/2006/main" x="685800" y="2095500"/>
          <a:ext xmlns:a="http://schemas.openxmlformats.org/drawingml/2006/main" cx="10820400" cy="3181350"/>
        </p:xfrm>
        <a:graphic xmlns:a="http://schemas.openxmlformats.org/drawingml/2006/main">
          <a:graphicData uri="http://schemas.openxmlformats.org/drawingml/2006/table">
            <a:tbl>
              <a:tblPr firstRow="0" bandRow="0"/>
              <a:tblGrid>
                <a:gridCol w="1428750"/>
                <a:gridCol w="4667250"/>
                <a:gridCol w="4724400"/>
              </a:tblGrid>
              <a:tr h="636270">
                <a:tc>
                  <a:txBody>
                    <a:bodyPr/>
                    <a:lstStyle/>
                    <a:p>
                      <a:r>
                        <a:rPr sz="1875" b="1">
                          <a:solidFill>
                            <a:srgbClr val="FFFFFF"/>
                          </a:solidFill>
                          <a:latin typeface="Arial"/>
                          <a:ea typeface="Arial"/>
                          <a:cs typeface="Arial"/>
                        </a:rPr>
                        <a:t>Condition</a:t>
                      </a:r>
                    </a:p>
                  </a:txBody>
                  <a:tcPr marL="133350" marR="133350" marT="114300" marB="114300">
                    <a:solidFill>
                      <a:srgbClr val="132C40"/>
                    </a:solidFill>
                  </a:tcPr>
                </a:tc>
                <a:tc>
                  <a:txBody>
                    <a:bodyPr/>
                    <a:lstStyle/>
                    <a:p>
                      <a:r>
                        <a:rPr sz="1875" b="1">
                          <a:solidFill>
                            <a:srgbClr val="FFFFFF"/>
                          </a:solidFill>
                          <a:latin typeface="Arial"/>
                          <a:ea typeface="Arial"/>
                          <a:cs typeface="Arial"/>
                        </a:rPr>
                        <a:t>Generator training</a:t>
                      </a:r>
                    </a:p>
                  </a:txBody>
                  <a:tcPr marL="133350" marR="133350" marT="114300" marB="114300">
                    <a:solidFill>
                      <a:srgbClr val="132C40"/>
                    </a:solidFill>
                  </a:tcPr>
                </a:tc>
                <a:tc>
                  <a:txBody>
                    <a:bodyPr/>
                    <a:lstStyle/>
                    <a:p>
                      <a:r>
                        <a:rPr sz="1875" b="1">
                          <a:solidFill>
                            <a:srgbClr val="FFFFFF"/>
                          </a:solidFill>
                          <a:latin typeface="Arial"/>
                          <a:ea typeface="Arial"/>
                          <a:cs typeface="Arial"/>
                        </a:rPr>
                        <a:t>What it measures</a:t>
                      </a:r>
                    </a:p>
                  </a:txBody>
                  <a:tcPr marL="133350" marR="133350" marT="114300" marB="114300">
                    <a:solidFill>
                      <a:srgbClr val="132C40"/>
                    </a:solidFill>
                  </a:tcPr>
                </a:tc>
              </a:tr>
              <a:tr h="636270">
                <a:tc>
                  <a:txBody>
                    <a:bodyPr/>
                    <a:lstStyle/>
                    <a:p>
                      <a:r>
                        <a:rPr sz="2025">
                          <a:solidFill>
                            <a:srgbClr val="132C40"/>
                          </a:solidFill>
                          <a:latin typeface="Arial"/>
                          <a:ea typeface="Arial"/>
                          <a:cs typeface="Arial"/>
                        </a:rPr>
                        <a:t>A</a:t>
                      </a:r>
                    </a:p>
                  </a:txBody>
                  <a:tcPr marL="133350" marR="133350" marT="114300" marB="114300">
                    <a:solidFill>
                      <a:srgbClr val="F6F4EF"/>
                    </a:solidFill>
                  </a:tcPr>
                </a:tc>
                <a:tc>
                  <a:txBody>
                    <a:bodyPr/>
                    <a:lstStyle/>
                    <a:p>
                      <a:r>
                        <a:rPr sz="2025">
                          <a:solidFill>
                            <a:srgbClr val="132C40"/>
                          </a:solidFill>
                          <a:latin typeface="Arial"/>
                          <a:ea typeface="Arial"/>
                          <a:cs typeface="Arial"/>
                        </a:rPr>
                        <a:t>No BioASQ adaptation</a:t>
                      </a:r>
                    </a:p>
                  </a:txBody>
                  <a:tcPr marL="133350" marR="133350" marT="114300" marB="114300">
                    <a:solidFill>
                      <a:srgbClr val="F6F4EF"/>
                    </a:solidFill>
                  </a:tcPr>
                </a:tc>
                <a:tc>
                  <a:txBody>
                    <a:bodyPr/>
                    <a:lstStyle/>
                    <a:p>
                      <a:r>
                        <a:rPr sz="2025">
                          <a:solidFill>
                            <a:srgbClr val="132C40"/>
                          </a:solidFill>
                          <a:latin typeface="Arial"/>
                          <a:ea typeface="Arial"/>
                          <a:cs typeface="Arial"/>
                        </a:rPr>
                        <a:t>Expansion baseline</a:t>
                      </a:r>
                    </a:p>
                  </a:txBody>
                  <a:tcPr marL="133350" marR="133350" marT="114300" marB="114300">
                    <a:solidFill>
                      <a:srgbClr val="F6F4EF"/>
                    </a:solidFill>
                  </a:tcPr>
                </a:tc>
              </a:tr>
              <a:tr h="636270">
                <a:tc>
                  <a:txBody>
                    <a:bodyPr/>
                    <a:lstStyle/>
                    <a:p>
                      <a:r>
                        <a:rPr sz="2025">
                          <a:solidFill>
                            <a:srgbClr val="132C40"/>
                          </a:solidFill>
                          <a:latin typeface="Arial"/>
                          <a:ea typeface="Arial"/>
                          <a:cs typeface="Arial"/>
                        </a:rPr>
                        <a:t>B</a:t>
                      </a:r>
                    </a:p>
                  </a:txBody>
                  <a:tcPr marL="133350" marR="133350" marT="114300" marB="114300">
                    <a:solidFill>
                      <a:srgbClr val="F6F4EF"/>
                    </a:solidFill>
                  </a:tcPr>
                </a:tc>
                <a:tc>
                  <a:txBody>
                    <a:bodyPr/>
                    <a:lstStyle/>
                    <a:p>
                      <a:r>
                        <a:rPr sz="2025">
                          <a:solidFill>
                            <a:srgbClr val="132C40"/>
                          </a:solidFill>
                          <a:latin typeface="Arial"/>
                          <a:ea typeface="Arial"/>
                          <a:cs typeface="Arial"/>
                        </a:rPr>
                        <a:t>Expansion SFT</a:t>
                      </a:r>
                    </a:p>
                  </a:txBody>
                  <a:tcPr marL="133350" marR="133350" marT="114300" marB="114300">
                    <a:solidFill>
                      <a:srgbClr val="F6F4EF"/>
                    </a:solidFill>
                  </a:tcPr>
                </a:tc>
                <a:tc>
                  <a:txBody>
                    <a:bodyPr/>
                    <a:lstStyle/>
                    <a:p>
                      <a:r>
                        <a:rPr sz="2025">
                          <a:solidFill>
                            <a:srgbClr val="132C40"/>
                          </a:solidFill>
                          <a:latin typeface="Arial"/>
                          <a:ea typeface="Arial"/>
                          <a:cs typeface="Arial"/>
                        </a:rPr>
                        <a:t>Supervised adaptation</a:t>
                      </a:r>
                    </a:p>
                  </a:txBody>
                  <a:tcPr marL="133350" marR="133350" marT="114300" marB="114300">
                    <a:solidFill>
                      <a:srgbClr val="F6F4EF"/>
                    </a:solidFill>
                  </a:tcPr>
                </a:tc>
              </a:tr>
              <a:tr h="636270">
                <a:tc>
                  <a:txBody>
                    <a:bodyPr/>
                    <a:lstStyle/>
                    <a:p>
                      <a:r>
                        <a:rPr sz="2025" b="1">
                          <a:solidFill>
                            <a:srgbClr val="087F8C"/>
                          </a:solidFill>
                          <a:latin typeface="Arial"/>
                          <a:ea typeface="Arial"/>
                          <a:cs typeface="Arial"/>
                        </a:rPr>
                        <a:t>C</a:t>
                      </a:r>
                    </a:p>
                  </a:txBody>
                  <a:tcPr marL="133350" marR="133350" marT="114300" marB="114300">
                    <a:solidFill>
                      <a:srgbClr val="E8F3F1"/>
                    </a:solidFill>
                  </a:tcPr>
                </a:tc>
                <a:tc>
                  <a:txBody>
                    <a:bodyPr/>
                    <a:lstStyle/>
                    <a:p>
                      <a:r>
                        <a:rPr sz="2025" b="1">
                          <a:solidFill>
                            <a:srgbClr val="087F8C"/>
                          </a:solidFill>
                          <a:latin typeface="Arial"/>
                          <a:ea typeface="Arial"/>
                          <a:cs typeface="Arial"/>
                        </a:rPr>
                        <a:t>Expansion SFT + DPO</a:t>
                      </a:r>
                    </a:p>
                  </a:txBody>
                  <a:tcPr marL="133350" marR="133350" marT="114300" marB="114300">
                    <a:solidFill>
                      <a:srgbClr val="E8F3F1"/>
                    </a:solidFill>
                  </a:tcPr>
                </a:tc>
                <a:tc>
                  <a:txBody>
                    <a:bodyPr/>
                    <a:lstStyle/>
                    <a:p>
                      <a:r>
                        <a:rPr sz="2025" b="1">
                          <a:solidFill>
                            <a:srgbClr val="087F8C"/>
                          </a:solidFill>
                          <a:latin typeface="Arial"/>
                          <a:ea typeface="Arial"/>
                          <a:cs typeface="Arial"/>
                        </a:rPr>
                        <a:t>DPO beyond SFT</a:t>
                      </a:r>
                    </a:p>
                  </a:txBody>
                  <a:tcPr marL="133350" marR="133350" marT="114300" marB="114300">
                    <a:solidFill>
                      <a:srgbClr val="E8F3F1"/>
                    </a:solidFill>
                  </a:tcPr>
                </a:tc>
              </a:tr>
              <a:tr h="636270">
                <a:tc>
                  <a:txBody>
                    <a:bodyPr/>
                    <a:lstStyle/>
                    <a:p>
                      <a:r>
                        <a:rPr sz="2025">
                          <a:solidFill>
                            <a:srgbClr val="132C40"/>
                          </a:solidFill>
                          <a:latin typeface="Arial"/>
                          <a:ea typeface="Arial"/>
                          <a:cs typeface="Arial"/>
                        </a:rPr>
                        <a:t>D</a:t>
                      </a:r>
                    </a:p>
                  </a:txBody>
                  <a:tcPr marL="133350" marR="133350" marT="114300" marB="114300">
                    <a:solidFill>
                      <a:srgbClr val="F6F4EF"/>
                    </a:solidFill>
                  </a:tcPr>
                </a:tc>
                <a:tc>
                  <a:txBody>
                    <a:bodyPr/>
                    <a:lstStyle/>
                    <a:p>
                      <a:r>
                        <a:rPr sz="2025">
                          <a:solidFill>
                            <a:srgbClr val="132C40"/>
                          </a:solidFill>
                          <a:latin typeface="Arial"/>
                          <a:ea typeface="Arial"/>
                          <a:cs typeface="Arial"/>
                        </a:rPr>
                        <a:t>Expansion SFT + continued SFT</a:t>
                      </a:r>
                    </a:p>
                  </a:txBody>
                  <a:tcPr marL="133350" marR="133350" marT="114300" marB="114300">
                    <a:solidFill>
                      <a:srgbClr val="F6F4EF"/>
                    </a:solidFill>
                  </a:tcPr>
                </a:tc>
                <a:tc>
                  <a:txBody>
                    <a:bodyPr/>
                    <a:lstStyle/>
                    <a:p>
                      <a:r>
                        <a:rPr sz="2025">
                          <a:solidFill>
                            <a:srgbClr val="132C40"/>
                          </a:solidFill>
                          <a:latin typeface="Arial"/>
                          <a:ea typeface="Arial"/>
                          <a:cs typeface="Arial"/>
                        </a:rPr>
                        <a:t>Extra-training control</a:t>
                      </a:r>
                    </a:p>
                  </a:txBody>
                  <a:tcPr marL="133350" marR="133350" marT="114300" marB="114300">
                    <a:solidFill>
                      <a:srgbClr val="F6F4EF"/>
                    </a:solidFill>
                  </a:tcPr>
                </a:tc>
              </a:tr>
            </a:tbl>
          </a:graphicData>
        </a:graphic>
      </p:graphicFrame>
      <p:sp>
        <p:nvSpPr>
          <p:cNvPr id="5" name="text-3">
            <a:extLst xmlns:a="http://schemas.openxmlformats.org/drawingml/2006/main">
              <a:ext uri="{FF2B5EF4-FFF2-40B4-BE49-F238E27FC236}">
                <a16:creationId xmlns:a16="http://schemas.microsoft.com/office/drawing/2014/main" id="{8746D761-AC98-4E32-BC47-096CE3FE42E2}"/>
              </a:ext>
            </a:extLst>
          </p:cNvPr>
          <p:cNvSpPr>
            <a:spLocks xmlns:a="http://schemas.openxmlformats.org/drawingml/2006/main" noGrp="1"/>
          </p:cNvSpPr>
          <p:nvPr/>
        </p:nvSpPr>
        <p:spPr>
          <a:xfrm xmlns:a="http://schemas.openxmlformats.org/drawingml/2006/main">
            <a:off x="685800" y="5514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C"/>
                </a:solidFill>
                <a:latin typeface="Arial"/>
                <a:ea typeface="Arial"/>
                <a:cs typeface="Arial"/>
              </a:defRPr>
            </a:pPr>
            <a:r>
              <a:rPr sz="2775" b="1">
                <a:solidFill>
                  <a:srgbClr val="087F8C"/>
                </a:solidFill>
                <a:latin typeface="Arial"/>
                <a:ea typeface="Arial"/>
                <a:cs typeface="Arial"/>
              </a:rPr>
              <a:t>Primary comparison: C minus B</a:t>
            </a:r>
          </a:p>
        </p:txBody>
      </p:sp>
      <p:sp>
        <p:nvSpPr>
          <p:cNvPr id="6" name="text-4">
            <a:extLst xmlns:a="http://schemas.openxmlformats.org/drawingml/2006/main">
              <a:ext uri="{FF2B5EF4-FFF2-40B4-BE49-F238E27FC236}">
                <a16:creationId xmlns:a16="http://schemas.microsoft.com/office/drawing/2014/main" id="{169EB68B-3356-4E6D-8794-C7CFB75235BF}"/>
              </a:ext>
            </a:extLst>
          </p:cNvPr>
          <p:cNvSpPr>
            <a:spLocks xmlns:a="http://schemas.openxmlformats.org/drawingml/2006/main" noGrp="1"/>
          </p:cNvSpPr>
          <p:nvPr/>
        </p:nvSpPr>
        <p:spPr>
          <a:xfrm xmlns:a="http://schemas.openxmlformats.org/drawingml/2006/main">
            <a:off x="685800" y="61341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Hold questions, candidate budget, companion model and selection constant.</a:t>
            </a:r>
          </a:p>
        </p:txBody>
      </p:sp>
    </p:spTree>
    <p:extLst>
      <p:ext uri="{BB962C8B-B14F-4D97-AF65-F5344CB8AC3E}">
        <p14:creationId xmlns:p14="http://schemas.microsoft.com/office/powerpoint/2010/main" val="1154484986"/>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BBA82B7-397A-4079-A17E-69783F113F1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Coverage and ranking answer different questions</a:t>
            </a:r>
          </a:p>
        </p:txBody>
      </p:sp>
      <p:sp>
        <p:nvSpPr>
          <p:cNvPr id="2" name="text-1">
            <a:extLst xmlns:a="http://schemas.openxmlformats.org/drawingml/2006/main">
              <a:ext uri="{FF2B5EF4-FFF2-40B4-BE49-F238E27FC236}">
                <a16:creationId xmlns:a16="http://schemas.microsoft.com/office/drawing/2014/main" id="{AECE5901-5B15-4F27-85F1-00AE58C819FF}"/>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Planned evaluation · official factoid MRR is the primary outcome</a:t>
            </a:r>
          </a:p>
        </p:txBody>
      </p:sp>
      <p:sp>
        <p:nvSpPr>
          <p:cNvPr id="3" name="text-2">
            <a:extLst xmlns:a="http://schemas.openxmlformats.org/drawingml/2006/main">
              <a:ext uri="{FF2B5EF4-FFF2-40B4-BE49-F238E27FC236}">
                <a16:creationId xmlns:a16="http://schemas.microsoft.com/office/drawing/2014/main" id="{34FF08E8-5C74-44C5-9160-78E638AACA5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9</a:t>
            </a:r>
          </a:p>
        </p:txBody>
      </p:sp>
      <p:sp>
        <p:nvSpPr>
          <p:cNvPr id="4" name="text-3">
            <a:extLst xmlns:a="http://schemas.openxmlformats.org/drawingml/2006/main">
              <a:ext uri="{FF2B5EF4-FFF2-40B4-BE49-F238E27FC236}">
                <a16:creationId xmlns:a16="http://schemas.microsoft.com/office/drawing/2014/main" id="{37DD0CE8-367B-4410-9666-666BE5DE7F11}"/>
              </a:ext>
            </a:extLst>
          </p:cNvPr>
          <p:cNvSpPr>
            <a:spLocks xmlns:a="http://schemas.openxmlformats.org/drawingml/2006/main" noGrp="1"/>
          </p:cNvSpPr>
          <p:nvPr/>
        </p:nvSpPr>
        <p:spPr>
          <a:xfrm xmlns:a="http://schemas.openxmlformats.org/drawingml/2006/main">
            <a:off x="685800" y="2238375"/>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Candidate coverage</a:t>
            </a:r>
          </a:p>
        </p:txBody>
      </p:sp>
      <p:sp>
        <p:nvSpPr>
          <p:cNvPr id="5" name="text-4">
            <a:extLst xmlns:a="http://schemas.openxmlformats.org/drawingml/2006/main">
              <a:ext uri="{FF2B5EF4-FFF2-40B4-BE49-F238E27FC236}">
                <a16:creationId xmlns:a16="http://schemas.microsoft.com/office/drawing/2014/main" id="{D4459E1E-0F20-4186-9201-6C633DBA56AD}"/>
              </a:ext>
            </a:extLst>
          </p:cNvPr>
          <p:cNvSpPr>
            <a:spLocks xmlns:a="http://schemas.openxmlformats.org/drawingml/2006/main" noGrp="1"/>
          </p:cNvSpPr>
          <p:nvPr/>
        </p:nvSpPr>
        <p:spPr>
          <a:xfrm xmlns:a="http://schemas.openxmlformats.org/drawingml/2006/main">
            <a:off x="685800" y="29718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the pool contain</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an accepted answer?</a:t>
            </a:r>
          </a:p>
        </p:txBody>
      </p:sp>
      <p:sp>
        <p:nvSpPr>
          <p:cNvPr id="6" name="text-5">
            <a:extLst xmlns:a="http://schemas.openxmlformats.org/drawingml/2006/main">
              <a:ext uri="{FF2B5EF4-FFF2-40B4-BE49-F238E27FC236}">
                <a16:creationId xmlns:a16="http://schemas.microsoft.com/office/drawing/2014/main" id="{CFCE0703-382E-4B74-83D6-1B08086D3D25}"/>
              </a:ext>
            </a:extLst>
          </p:cNvPr>
          <p:cNvSpPr>
            <a:spLocks xmlns:a="http://schemas.openxmlformats.org/drawingml/2006/main" noGrp="1"/>
          </p:cNvSpPr>
          <p:nvPr/>
        </p:nvSpPr>
        <p:spPr>
          <a:xfrm xmlns:a="http://schemas.openxmlformats.org/drawingml/2006/main">
            <a:off x="6572250" y="223837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Final ranking</a:t>
            </a:r>
          </a:p>
        </p:txBody>
      </p:sp>
      <p:sp>
        <p:nvSpPr>
          <p:cNvPr id="7" name="text-6">
            <a:extLst xmlns:a="http://schemas.openxmlformats.org/drawingml/2006/main">
              <a:ext uri="{FF2B5EF4-FFF2-40B4-BE49-F238E27FC236}">
                <a16:creationId xmlns:a16="http://schemas.microsoft.com/office/drawing/2014/main" id="{078AB2D9-1DAF-442A-8C62-5A8F73DF5616}"/>
              </a:ext>
            </a:extLst>
          </p:cNvPr>
          <p:cNvSpPr>
            <a:spLocks xmlns:a="http://schemas.openxmlformats.org/drawingml/2006/main" noGrp="1"/>
          </p:cNvSpPr>
          <p:nvPr/>
        </p:nvSpPr>
        <p:spPr>
          <a:xfrm xmlns:a="http://schemas.openxmlformats.org/drawingml/2006/main">
            <a:off x="6572250" y="297180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an accepted answer</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appear near the top?</a:t>
            </a:r>
          </a:p>
        </p:txBody>
      </p:sp>
      <p:sp>
        <p:nvSpPr>
          <p:cNvPr id="8" name="text-7">
            <a:extLst xmlns:a="http://schemas.openxmlformats.org/drawingml/2006/main">
              <a:ext uri="{FF2B5EF4-FFF2-40B4-BE49-F238E27FC236}">
                <a16:creationId xmlns:a16="http://schemas.microsoft.com/office/drawing/2014/main" id="{1F156202-D845-4D45-A0ED-DB1482F40670}"/>
              </a:ext>
            </a:extLst>
          </p:cNvPr>
          <p:cNvSpPr>
            <a:spLocks xmlns:a="http://schemas.openxmlformats.org/drawingml/2006/main" noGrp="1"/>
          </p:cNvSpPr>
          <p:nvPr/>
        </p:nvSpPr>
        <p:spPr>
          <a:xfrm xmlns:a="http://schemas.openxmlformats.org/drawingml/2006/main">
            <a:off x="685800" y="4629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Controls</a:t>
            </a:r>
          </a:p>
        </p:txBody>
      </p:sp>
      <p:sp>
        <p:nvSpPr>
          <p:cNvPr id="9" name="text-8">
            <a:extLst xmlns:a="http://schemas.openxmlformats.org/drawingml/2006/main">
              <a:ext uri="{FF2B5EF4-FFF2-40B4-BE49-F238E27FC236}">
                <a16:creationId xmlns:a16="http://schemas.microsoft.com/office/drawing/2014/main" id="{E101E7B7-AD41-411D-8226-12BF68D50B0F}"/>
              </a:ext>
            </a:extLst>
          </p:cNvPr>
          <p:cNvSpPr>
            <a:spLocks xmlns:a="http://schemas.openxmlformats.org/drawingml/2006/main" noGrp="1"/>
          </p:cNvSpPr>
          <p:nvPr/>
        </p:nvSpPr>
        <p:spPr>
          <a:xfrm xmlns:a="http://schemas.openxmlformats.org/drawingml/2006/main">
            <a:off x="685800" y="516255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Question-level separation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Unseen final evaluation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Frozen selection and equal budgets</a:t>
            </a:r>
          </a:p>
        </p:txBody>
      </p:sp>
      <p:sp>
        <p:nvSpPr>
          <p:cNvPr id="10" name="text-9">
            <a:extLst xmlns:a="http://schemas.openxmlformats.org/drawingml/2006/main">
              <a:ext uri="{FF2B5EF4-FFF2-40B4-BE49-F238E27FC236}">
                <a16:creationId xmlns:a16="http://schemas.microsoft.com/office/drawing/2014/main" id="{FB846848-9CAA-4FA5-8137-3B51E5C03BCF}"/>
              </a:ext>
            </a:extLst>
          </p:cNvPr>
          <p:cNvSpPr>
            <a:spLocks xmlns:a="http://schemas.openxmlformats.org/drawingml/2006/main" noGrp="1"/>
          </p:cNvSpPr>
          <p:nvPr/>
        </p:nvSpPr>
        <p:spPr>
          <a:xfrm xmlns:a="http://schemas.openxmlformats.org/drawingml/2006/main">
            <a:off x="6572250" y="46291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Interpretation</a:t>
            </a:r>
          </a:p>
        </p:txBody>
      </p:sp>
      <p:sp>
        <p:nvSpPr>
          <p:cNvPr id="11" name="text-10">
            <a:extLst xmlns:a="http://schemas.openxmlformats.org/drawingml/2006/main">
              <a:ext uri="{FF2B5EF4-FFF2-40B4-BE49-F238E27FC236}">
                <a16:creationId xmlns:a16="http://schemas.microsoft.com/office/drawing/2014/main" id="{D7CC9B3F-46B0-49B4-B9AB-98FFCBBE4A7A}"/>
              </a:ext>
            </a:extLst>
          </p:cNvPr>
          <p:cNvSpPr>
            <a:spLocks xmlns:a="http://schemas.openxmlformats.org/drawingml/2006/main" noGrp="1"/>
          </p:cNvSpPr>
          <p:nvPr/>
        </p:nvSpPr>
        <p:spPr>
          <a:xfrm xmlns:a="http://schemas.openxmlformats.org/drawingml/2006/main">
            <a:off x="6572250" y="516255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Paired confidence intervals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Candidate validity and diversity</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List extension: entity-set F1</a:t>
            </a:r>
          </a:p>
        </p:txBody>
      </p:sp>
    </p:spTree>
    <p:extLst>
      <p:ext uri="{BB962C8B-B14F-4D97-AF65-F5344CB8AC3E}">
        <p14:creationId xmlns:p14="http://schemas.microsoft.com/office/powerpoint/2010/main" val="1910610132"/>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908E89D-5C56-47A9-A941-4FF16B06C2A4}"/>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study will establish where DPO adds value</a:t>
            </a:r>
          </a:p>
        </p:txBody>
      </p:sp>
      <p:sp>
        <p:nvSpPr>
          <p:cNvPr id="2" name="text-1">
            <a:extLst xmlns:a="http://schemas.openxmlformats.org/drawingml/2006/main">
              <a:ext uri="{FF2B5EF4-FFF2-40B4-BE49-F238E27FC236}">
                <a16:creationId xmlns:a16="http://schemas.microsoft.com/office/drawing/2014/main" id="{DC395F8D-29B2-42C9-9964-4477257CEEA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Current evidence and remaining work</a:t>
            </a:r>
          </a:p>
        </p:txBody>
      </p:sp>
      <p:sp>
        <p:nvSpPr>
          <p:cNvPr id="3" name="text-2">
            <a:extLst xmlns:a="http://schemas.openxmlformats.org/drawingml/2006/main">
              <a:ext uri="{FF2B5EF4-FFF2-40B4-BE49-F238E27FC236}">
                <a16:creationId xmlns:a16="http://schemas.microsoft.com/office/drawing/2014/main" id="{5F1247EC-145E-472C-B189-1D10FC80035E}"/>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154729B3-D85A-44BE-A377-28BBCE0CD9D2}"/>
              </a:ext>
            </a:extLst>
          </p:cNvPr>
          <p:cNvSpPr>
            <a:spLocks xmlns:a="http://schemas.openxmlformats.org/drawingml/2006/main" noGrp="1"/>
          </p:cNvSpPr>
          <p:nvPr/>
        </p:nvSpPr>
        <p:spPr>
          <a:xfrm xmlns:a="http://schemas.openxmlformats.org/drawingml/2006/main">
            <a:off x="685800" y="2133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Completed pilots</a:t>
            </a:r>
          </a:p>
        </p:txBody>
      </p:sp>
      <p:sp>
        <p:nvSpPr>
          <p:cNvPr id="5" name="text-4">
            <a:extLst xmlns:a="http://schemas.openxmlformats.org/drawingml/2006/main">
              <a:ext uri="{FF2B5EF4-FFF2-40B4-BE49-F238E27FC236}">
                <a16:creationId xmlns:a16="http://schemas.microsoft.com/office/drawing/2014/main" id="{BF365845-1BEB-4120-9973-86FFEE9D8A21}"/>
              </a:ext>
            </a:extLst>
          </p:cNvPr>
          <p:cNvSpPr>
            <a:spLocks xmlns:a="http://schemas.openxmlformats.org/drawingml/2006/main" noGrp="1"/>
          </p:cNvSpPr>
          <p:nvPr/>
        </p:nvSpPr>
        <p:spPr>
          <a:xfrm xmlns:a="http://schemas.openxmlformats.org/drawingml/2006/main">
            <a:off x="68580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Answer expressions and model complementarity</a:t>
            </a:r>
          </a:p>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motivate expansion and pooling.</a:t>
            </a:r>
          </a:p>
        </p:txBody>
      </p:sp>
      <p:sp>
        <p:nvSpPr>
          <p:cNvPr id="6" name="text-5">
            <a:extLst xmlns:a="http://schemas.openxmlformats.org/drawingml/2006/main">
              <a:ext uri="{FF2B5EF4-FFF2-40B4-BE49-F238E27FC236}">
                <a16:creationId xmlns:a16="http://schemas.microsoft.com/office/drawing/2014/main" id="{1D7C4B89-A457-4AE9-91F6-B77B2AA477C0}"/>
              </a:ext>
            </a:extLst>
          </p:cNvPr>
          <p:cNvSpPr>
            <a:spLocks xmlns:a="http://schemas.openxmlformats.org/drawingml/2006/main" noGrp="1"/>
          </p:cNvSpPr>
          <p:nvPr/>
        </p:nvSpPr>
        <p:spPr>
          <a:xfrm xmlns:a="http://schemas.openxmlformats.org/drawingml/2006/main">
            <a:off x="685800" y="41910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Next experiment</a:t>
            </a:r>
          </a:p>
        </p:txBody>
      </p:sp>
      <p:sp>
        <p:nvSpPr>
          <p:cNvPr id="7" name="text-6">
            <a:extLst xmlns:a="http://schemas.openxmlformats.org/drawingml/2006/main">
              <a:ext uri="{FF2B5EF4-FFF2-40B4-BE49-F238E27FC236}">
                <a16:creationId xmlns:a16="http://schemas.microsoft.com/office/drawing/2014/main" id="{56EAD9B0-0FD7-45C4-8995-5BDB0FAA2D21}"/>
              </a:ext>
            </a:extLst>
          </p:cNvPr>
          <p:cNvSpPr>
            <a:spLocks xmlns:a="http://schemas.openxmlformats.org/drawingml/2006/main" noGrp="1"/>
          </p:cNvSpPr>
          <p:nvPr/>
        </p:nvSpPr>
        <p:spPr>
          <a:xfrm xmlns:a="http://schemas.openxmlformats.org/drawingml/2006/main">
            <a:off x="685800" y="48482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Test whether DPO improves expansion</a:t>
            </a:r>
          </a:p>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beyond SFT under matched conditions.</a:t>
            </a:r>
          </a:p>
        </p:txBody>
      </p:sp>
      <p:sp>
        <p:nvSpPr>
          <p:cNvPr id="8" name="text-7">
            <a:extLst xmlns:a="http://schemas.openxmlformats.org/drawingml/2006/main">
              <a:ext uri="{FF2B5EF4-FFF2-40B4-BE49-F238E27FC236}">
                <a16:creationId xmlns:a16="http://schemas.microsoft.com/office/drawing/2014/main" id="{E8BC7A59-252D-4F1A-87AA-BB513C9358BF}"/>
              </a:ext>
            </a:extLst>
          </p:cNvPr>
          <p:cNvSpPr>
            <a:spLocks xmlns:a="http://schemas.openxmlformats.org/drawingml/2006/main" noGrp="1"/>
          </p:cNvSpPr>
          <p:nvPr/>
        </p:nvSpPr>
        <p:spPr>
          <a:xfrm xmlns:a="http://schemas.openxmlformats.org/drawingml/2006/main">
            <a:off x="685800" y="6172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46875"/>
                </a:solidFill>
                <a:latin typeface="Arial"/>
                <a:ea typeface="Arial"/>
                <a:cs typeface="Arial"/>
              </a:defRPr>
            </a:pPr>
            <a:r>
              <a:rPr sz="1875" b="0">
                <a:solidFill>
                  <a:srgbClr val="546875"/>
                </a:solidFill>
                <a:latin typeface="Arial"/>
                <a:ea typeface="Arial"/>
                <a:cs typeface="Arial"/>
              </a:rPr>
              <a:t>List answering and preference-trained selection remain secondary extensions.</a:t>
            </a:r>
          </a:p>
        </p:txBody>
      </p:sp>
    </p:spTree>
    <p:extLst>
      <p:ext uri="{BB962C8B-B14F-4D97-AF65-F5344CB8AC3E}">
        <p14:creationId xmlns:p14="http://schemas.microsoft.com/office/powerpoint/2010/main" val="474114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2026-10-05T23:02:31.0150000Z</dcterms:created>
  <dcterms:modified xsi:type="dcterms:W3CDTF">2026-10-05T23:02:31.0150000Z</dcterms:modified>
</coreProperties>
</file>